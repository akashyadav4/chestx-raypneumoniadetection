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2C98C-6E27-414A-B8E1-8939EB39F0A3}" v="1" dt="2025-12-14T19:43:29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3"/>
  </p:normalViewPr>
  <p:slideViewPr>
    <p:cSldViewPr snapToGrid="0">
      <p:cViewPr varScale="1">
        <p:scale>
          <a:sx n="117" d="100"/>
          <a:sy n="117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949182-36F5-4D62-A7DA-CE624D52FC4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761C52-4CF8-4346-9E31-C5BB927E3D78}">
      <dgm:prSet/>
      <dgm:spPr/>
      <dgm:t>
        <a:bodyPr/>
        <a:lstStyle/>
        <a:p>
          <a:r>
            <a:rPr lang="en-US" b="1" dirty="0"/>
            <a:t>1. Custom CNN (Baseline)</a:t>
          </a:r>
          <a:endParaRPr lang="en-US" dirty="0"/>
        </a:p>
      </dgm:t>
    </dgm:pt>
    <dgm:pt modelId="{B67BC33F-69B0-409A-9787-A2805C08BA6F}" type="parTrans" cxnId="{E1D53438-9A35-4CE2-BB6D-7AE4E22702AB}">
      <dgm:prSet/>
      <dgm:spPr/>
      <dgm:t>
        <a:bodyPr/>
        <a:lstStyle/>
        <a:p>
          <a:endParaRPr lang="en-US"/>
        </a:p>
      </dgm:t>
    </dgm:pt>
    <dgm:pt modelId="{93C21CBE-6826-4E61-A268-3A0BC597F3EB}" type="sibTrans" cxnId="{E1D53438-9A35-4CE2-BB6D-7AE4E22702AB}">
      <dgm:prSet/>
      <dgm:spPr/>
      <dgm:t>
        <a:bodyPr/>
        <a:lstStyle/>
        <a:p>
          <a:endParaRPr lang="en-US"/>
        </a:p>
      </dgm:t>
    </dgm:pt>
    <dgm:pt modelId="{87B89F5C-4699-4EE8-A15C-AE76CCE0FC75}">
      <dgm:prSet/>
      <dgm:spPr/>
      <dgm:t>
        <a:bodyPr/>
        <a:lstStyle/>
        <a:p>
          <a:r>
            <a:rPr lang="en-US"/>
            <a:t>5-layer convolutional network.</a:t>
          </a:r>
        </a:p>
      </dgm:t>
    </dgm:pt>
    <dgm:pt modelId="{C5BEFF04-6B19-477B-B064-051B5FBECE3B}" type="parTrans" cxnId="{5F95B752-A3A9-49CE-92EF-8F693EDF7BFB}">
      <dgm:prSet/>
      <dgm:spPr/>
      <dgm:t>
        <a:bodyPr/>
        <a:lstStyle/>
        <a:p>
          <a:endParaRPr lang="en-US"/>
        </a:p>
      </dgm:t>
    </dgm:pt>
    <dgm:pt modelId="{5D68C696-502B-4F4E-8651-E3B1C0D7E869}" type="sibTrans" cxnId="{5F95B752-A3A9-49CE-92EF-8F693EDF7BFB}">
      <dgm:prSet/>
      <dgm:spPr/>
      <dgm:t>
        <a:bodyPr/>
        <a:lstStyle/>
        <a:p>
          <a:endParaRPr lang="en-US"/>
        </a:p>
      </dgm:t>
    </dgm:pt>
    <dgm:pt modelId="{DEDAE6DD-51BF-4636-BB23-951D934BC29D}">
      <dgm:prSet/>
      <dgm:spPr/>
      <dgm:t>
        <a:bodyPr/>
        <a:lstStyle/>
        <a:p>
          <a:r>
            <a:rPr lang="en-US"/>
            <a:t>3 conv blocks + batch norm + max pooling.</a:t>
          </a:r>
        </a:p>
      </dgm:t>
    </dgm:pt>
    <dgm:pt modelId="{AE5A4232-694D-471C-84DA-78E2E6385BCB}" type="parTrans" cxnId="{8D8D6874-DEC8-4256-AA3C-C3F366CF4350}">
      <dgm:prSet/>
      <dgm:spPr/>
      <dgm:t>
        <a:bodyPr/>
        <a:lstStyle/>
        <a:p>
          <a:endParaRPr lang="en-US"/>
        </a:p>
      </dgm:t>
    </dgm:pt>
    <dgm:pt modelId="{14E6D55A-FFF8-4DDA-A585-C66DAED96B1D}" type="sibTrans" cxnId="{8D8D6874-DEC8-4256-AA3C-C3F366CF4350}">
      <dgm:prSet/>
      <dgm:spPr/>
      <dgm:t>
        <a:bodyPr/>
        <a:lstStyle/>
        <a:p>
          <a:endParaRPr lang="en-US"/>
        </a:p>
      </dgm:t>
    </dgm:pt>
    <dgm:pt modelId="{F9BBB55E-613C-4FE4-83B4-C16B3520D73C}">
      <dgm:prSet/>
      <dgm:spPr/>
      <dgm:t>
        <a:bodyPr/>
        <a:lstStyle/>
        <a:p>
          <a:r>
            <a:rPr lang="en-US"/>
            <a:t>Trained from scratch.</a:t>
          </a:r>
        </a:p>
      </dgm:t>
    </dgm:pt>
    <dgm:pt modelId="{57861EAE-7D8D-4ACF-A0E4-663310CD946F}" type="parTrans" cxnId="{CC31B001-ADBE-478B-BF05-CBAA8B271B37}">
      <dgm:prSet/>
      <dgm:spPr/>
      <dgm:t>
        <a:bodyPr/>
        <a:lstStyle/>
        <a:p>
          <a:endParaRPr lang="en-US"/>
        </a:p>
      </dgm:t>
    </dgm:pt>
    <dgm:pt modelId="{F9C914B3-159C-435D-9691-99A4BD073359}" type="sibTrans" cxnId="{CC31B001-ADBE-478B-BF05-CBAA8B271B37}">
      <dgm:prSet/>
      <dgm:spPr/>
      <dgm:t>
        <a:bodyPr/>
        <a:lstStyle/>
        <a:p>
          <a:endParaRPr lang="en-US"/>
        </a:p>
      </dgm:t>
    </dgm:pt>
    <dgm:pt modelId="{03211EE5-39EA-4783-BF02-BD7F81C4D28C}">
      <dgm:prSet/>
      <dgm:spPr/>
      <dgm:t>
        <a:bodyPr/>
        <a:lstStyle/>
        <a:p>
          <a:r>
            <a:rPr lang="en-US" b="1" dirty="0"/>
            <a:t>2. VGG16 </a:t>
          </a:r>
        </a:p>
        <a:p>
          <a:r>
            <a:rPr lang="en-US" b="1" dirty="0"/>
            <a:t>(Transfer Learning)</a:t>
          </a:r>
          <a:endParaRPr lang="en-US" dirty="0"/>
        </a:p>
      </dgm:t>
    </dgm:pt>
    <dgm:pt modelId="{329EEFE3-95C3-47F4-97F9-6530F76AEA4C}" type="parTrans" cxnId="{C18A134A-481A-41B7-9D62-425688A3F9C0}">
      <dgm:prSet/>
      <dgm:spPr/>
      <dgm:t>
        <a:bodyPr/>
        <a:lstStyle/>
        <a:p>
          <a:endParaRPr lang="en-US"/>
        </a:p>
      </dgm:t>
    </dgm:pt>
    <dgm:pt modelId="{C92CF2A0-57BB-4EB1-B741-7960B1060CA9}" type="sibTrans" cxnId="{C18A134A-481A-41B7-9D62-425688A3F9C0}">
      <dgm:prSet/>
      <dgm:spPr/>
      <dgm:t>
        <a:bodyPr/>
        <a:lstStyle/>
        <a:p>
          <a:endParaRPr lang="en-US"/>
        </a:p>
      </dgm:t>
    </dgm:pt>
    <dgm:pt modelId="{ECB326E3-8C2B-4343-B41F-61029E22E1F6}">
      <dgm:prSet/>
      <dgm:spPr/>
      <dgm:t>
        <a:bodyPr/>
        <a:lstStyle/>
        <a:p>
          <a:r>
            <a:rPr lang="en-US"/>
            <a:t>Pre-trained on ImageNet; frozen conv layers.</a:t>
          </a:r>
        </a:p>
      </dgm:t>
    </dgm:pt>
    <dgm:pt modelId="{653CBBD5-7E93-4FCF-9434-4356193F5C2E}" type="parTrans" cxnId="{1A3E39E6-DAE1-4DF6-8F28-A97165FB7682}">
      <dgm:prSet/>
      <dgm:spPr/>
      <dgm:t>
        <a:bodyPr/>
        <a:lstStyle/>
        <a:p>
          <a:endParaRPr lang="en-US"/>
        </a:p>
      </dgm:t>
    </dgm:pt>
    <dgm:pt modelId="{08D2028B-9617-4C3E-B23B-C4672463B4F4}" type="sibTrans" cxnId="{1A3E39E6-DAE1-4DF6-8F28-A97165FB7682}">
      <dgm:prSet/>
      <dgm:spPr/>
      <dgm:t>
        <a:bodyPr/>
        <a:lstStyle/>
        <a:p>
          <a:endParaRPr lang="en-US"/>
        </a:p>
      </dgm:t>
    </dgm:pt>
    <dgm:pt modelId="{010F3D72-BD8B-4403-B07F-2AC9811057F5}">
      <dgm:prSet/>
      <dgm:spPr/>
      <dgm:t>
        <a:bodyPr/>
        <a:lstStyle/>
        <a:p>
          <a:r>
            <a:rPr lang="en-US"/>
            <a:t>Custom classifier: 4096 → 1024 → 2 classes.</a:t>
          </a:r>
        </a:p>
      </dgm:t>
    </dgm:pt>
    <dgm:pt modelId="{7267CCCD-F1D7-4AAD-B486-314945ED3AB0}" type="parTrans" cxnId="{BD3B1A05-9F3B-4553-8A4A-B3CF72499C80}">
      <dgm:prSet/>
      <dgm:spPr/>
      <dgm:t>
        <a:bodyPr/>
        <a:lstStyle/>
        <a:p>
          <a:endParaRPr lang="en-US"/>
        </a:p>
      </dgm:t>
    </dgm:pt>
    <dgm:pt modelId="{74D26997-78D1-42C8-97E5-9035685B4EE8}" type="sibTrans" cxnId="{BD3B1A05-9F3B-4553-8A4A-B3CF72499C80}">
      <dgm:prSet/>
      <dgm:spPr/>
      <dgm:t>
        <a:bodyPr/>
        <a:lstStyle/>
        <a:p>
          <a:endParaRPr lang="en-US"/>
        </a:p>
      </dgm:t>
    </dgm:pt>
    <dgm:pt modelId="{66768FE4-B861-4335-8D33-ED3CE4C26202}">
      <dgm:prSet/>
      <dgm:spPr/>
      <dgm:t>
        <a:bodyPr/>
        <a:lstStyle/>
        <a:p>
          <a:r>
            <a:rPr lang="en-US"/>
            <a:t>Learning rate: 1e-5 (careful fine-tuning).</a:t>
          </a:r>
        </a:p>
      </dgm:t>
    </dgm:pt>
    <dgm:pt modelId="{DC8E0E49-95EB-486F-A64D-CD11C737F427}" type="parTrans" cxnId="{9AE6F745-9914-462E-914D-90F143DFD8C5}">
      <dgm:prSet/>
      <dgm:spPr/>
      <dgm:t>
        <a:bodyPr/>
        <a:lstStyle/>
        <a:p>
          <a:endParaRPr lang="en-US"/>
        </a:p>
      </dgm:t>
    </dgm:pt>
    <dgm:pt modelId="{EB9FFC40-AD84-452B-B992-7F4E0839EE6C}" type="sibTrans" cxnId="{9AE6F745-9914-462E-914D-90F143DFD8C5}">
      <dgm:prSet/>
      <dgm:spPr/>
      <dgm:t>
        <a:bodyPr/>
        <a:lstStyle/>
        <a:p>
          <a:endParaRPr lang="en-US"/>
        </a:p>
      </dgm:t>
    </dgm:pt>
    <dgm:pt modelId="{2C4141F6-3859-45EE-9B0A-E9859E00A58B}">
      <dgm:prSet/>
      <dgm:spPr/>
      <dgm:t>
        <a:bodyPr/>
        <a:lstStyle/>
        <a:p>
          <a:r>
            <a:rPr lang="en-US" b="1" dirty="0"/>
            <a:t>3. ResNet50 </a:t>
          </a:r>
        </a:p>
        <a:p>
          <a:r>
            <a:rPr lang="en-US" b="1" dirty="0"/>
            <a:t>(Transfer Learning)</a:t>
          </a:r>
          <a:endParaRPr lang="en-US" dirty="0"/>
        </a:p>
      </dgm:t>
    </dgm:pt>
    <dgm:pt modelId="{803FE595-5F93-4274-8DAA-AFF4B991EF05}" type="parTrans" cxnId="{929E9704-677E-4494-9CD9-53B5F8A900C9}">
      <dgm:prSet/>
      <dgm:spPr/>
      <dgm:t>
        <a:bodyPr/>
        <a:lstStyle/>
        <a:p>
          <a:endParaRPr lang="en-US"/>
        </a:p>
      </dgm:t>
    </dgm:pt>
    <dgm:pt modelId="{E08A4720-0C99-42D4-802E-24FC706F6BBE}" type="sibTrans" cxnId="{929E9704-677E-4494-9CD9-53B5F8A900C9}">
      <dgm:prSet/>
      <dgm:spPr/>
      <dgm:t>
        <a:bodyPr/>
        <a:lstStyle/>
        <a:p>
          <a:endParaRPr lang="en-US"/>
        </a:p>
      </dgm:t>
    </dgm:pt>
    <dgm:pt modelId="{FE7B3542-2169-4EB6-B327-188C2A9664D8}">
      <dgm:prSet/>
      <dgm:spPr/>
      <dgm:t>
        <a:bodyPr/>
        <a:lstStyle/>
        <a:p>
          <a:r>
            <a:rPr lang="en-US"/>
            <a:t>Pre-trained on ImageNet; last 20 layers trainable.</a:t>
          </a:r>
        </a:p>
      </dgm:t>
    </dgm:pt>
    <dgm:pt modelId="{70BAB4F3-A9C9-434A-B15E-150F4D1302EF}" type="parTrans" cxnId="{3D18EC54-E11D-40DF-81B4-467A3204AC02}">
      <dgm:prSet/>
      <dgm:spPr/>
      <dgm:t>
        <a:bodyPr/>
        <a:lstStyle/>
        <a:p>
          <a:endParaRPr lang="en-US"/>
        </a:p>
      </dgm:t>
    </dgm:pt>
    <dgm:pt modelId="{8805D643-264D-49E4-8BBC-DA01F5F9185F}" type="sibTrans" cxnId="{3D18EC54-E11D-40DF-81B4-467A3204AC02}">
      <dgm:prSet/>
      <dgm:spPr/>
      <dgm:t>
        <a:bodyPr/>
        <a:lstStyle/>
        <a:p>
          <a:endParaRPr lang="en-US"/>
        </a:p>
      </dgm:t>
    </dgm:pt>
    <dgm:pt modelId="{AA26AA32-A9FD-4990-B414-DDD81AB2F801}">
      <dgm:prSet/>
      <dgm:spPr/>
      <dgm:t>
        <a:bodyPr/>
        <a:lstStyle/>
        <a:p>
          <a:r>
            <a:rPr lang="en-US"/>
            <a:t>Residual connections for deeper architecture.</a:t>
          </a:r>
        </a:p>
      </dgm:t>
    </dgm:pt>
    <dgm:pt modelId="{C7336A2F-2371-4DB5-9A25-8C4A1CA4728B}" type="parTrans" cxnId="{C5977FDE-5926-4314-A13F-A07E73806AA7}">
      <dgm:prSet/>
      <dgm:spPr/>
      <dgm:t>
        <a:bodyPr/>
        <a:lstStyle/>
        <a:p>
          <a:endParaRPr lang="en-US"/>
        </a:p>
      </dgm:t>
    </dgm:pt>
    <dgm:pt modelId="{59799CA2-75CE-4FF8-AACF-086B4545975F}" type="sibTrans" cxnId="{C5977FDE-5926-4314-A13F-A07E73806AA7}">
      <dgm:prSet/>
      <dgm:spPr/>
      <dgm:t>
        <a:bodyPr/>
        <a:lstStyle/>
        <a:p>
          <a:endParaRPr lang="en-US"/>
        </a:p>
      </dgm:t>
    </dgm:pt>
    <dgm:pt modelId="{7A27195D-6201-4173-8176-D9F072B05FD1}">
      <dgm:prSet/>
      <dgm:spPr/>
      <dgm:t>
        <a:bodyPr/>
        <a:lstStyle/>
        <a:p>
          <a:pPr>
            <a:buNone/>
          </a:pPr>
          <a:r>
            <a:rPr lang="en-US" b="1" dirty="0"/>
            <a:t>Scheduler: </a:t>
          </a:r>
          <a:r>
            <a:rPr lang="en-US" dirty="0"/>
            <a:t>Decays LR when validation loss plateaus (Patience=3).</a:t>
          </a:r>
        </a:p>
      </dgm:t>
    </dgm:pt>
    <dgm:pt modelId="{DEA3E149-CA87-4A61-ADDD-B0D60AB6EFDB}" type="parTrans" cxnId="{AB8C334D-B33B-4E50-81E1-2698A05E08B7}">
      <dgm:prSet/>
      <dgm:spPr/>
      <dgm:t>
        <a:bodyPr/>
        <a:lstStyle/>
        <a:p>
          <a:endParaRPr lang="en-US"/>
        </a:p>
      </dgm:t>
    </dgm:pt>
    <dgm:pt modelId="{C8C51261-4720-4768-A18C-ECFA2FA47834}" type="sibTrans" cxnId="{AB8C334D-B33B-4E50-81E1-2698A05E08B7}">
      <dgm:prSet/>
      <dgm:spPr/>
      <dgm:t>
        <a:bodyPr/>
        <a:lstStyle/>
        <a:p>
          <a:endParaRPr lang="en-US"/>
        </a:p>
      </dgm:t>
    </dgm:pt>
    <dgm:pt modelId="{885BD541-7A4F-3B45-B4A8-9096EB5E9090}" type="pres">
      <dgm:prSet presAssocID="{7C949182-36F5-4D62-A7DA-CE624D52FC43}" presName="Name0" presStyleCnt="0">
        <dgm:presLayoutVars>
          <dgm:dir/>
          <dgm:resizeHandles val="exact"/>
        </dgm:presLayoutVars>
      </dgm:prSet>
      <dgm:spPr/>
    </dgm:pt>
    <dgm:pt modelId="{A5C054EC-29FD-2648-A3D0-3F213371587E}" type="pres">
      <dgm:prSet presAssocID="{EE761C52-4CF8-4346-9E31-C5BB927E3D78}" presName="node" presStyleLbl="node1" presStyleIdx="0" presStyleCnt="12" custScaleX="127723">
        <dgm:presLayoutVars>
          <dgm:bulletEnabled val="1"/>
        </dgm:presLayoutVars>
      </dgm:prSet>
      <dgm:spPr/>
    </dgm:pt>
    <dgm:pt modelId="{A6714DF2-3B78-AE4C-BCC4-C1F49275F1A5}" type="pres">
      <dgm:prSet presAssocID="{93C21CBE-6826-4E61-A268-3A0BC597F3EB}" presName="sibTrans" presStyleLbl="sibTrans1D1" presStyleIdx="0" presStyleCnt="11"/>
      <dgm:spPr/>
    </dgm:pt>
    <dgm:pt modelId="{5E5DF810-715F-2D42-B033-7F1C0B402F77}" type="pres">
      <dgm:prSet presAssocID="{93C21CBE-6826-4E61-A268-3A0BC597F3EB}" presName="connectorText" presStyleLbl="sibTrans1D1" presStyleIdx="0" presStyleCnt="11"/>
      <dgm:spPr/>
    </dgm:pt>
    <dgm:pt modelId="{805CFF60-0359-0147-BDD2-DE6E193A211F}" type="pres">
      <dgm:prSet presAssocID="{87B89F5C-4699-4EE8-A15C-AE76CCE0FC75}" presName="node" presStyleLbl="node1" presStyleIdx="1" presStyleCnt="12">
        <dgm:presLayoutVars>
          <dgm:bulletEnabled val="1"/>
        </dgm:presLayoutVars>
      </dgm:prSet>
      <dgm:spPr/>
    </dgm:pt>
    <dgm:pt modelId="{37AB6953-B98D-EA4B-A5B3-EC1A5ECC0E61}" type="pres">
      <dgm:prSet presAssocID="{5D68C696-502B-4F4E-8651-E3B1C0D7E869}" presName="sibTrans" presStyleLbl="sibTrans1D1" presStyleIdx="1" presStyleCnt="11"/>
      <dgm:spPr/>
    </dgm:pt>
    <dgm:pt modelId="{194AB663-E8A7-F546-A4E9-90E5F5CD2E84}" type="pres">
      <dgm:prSet presAssocID="{5D68C696-502B-4F4E-8651-E3B1C0D7E869}" presName="connectorText" presStyleLbl="sibTrans1D1" presStyleIdx="1" presStyleCnt="11"/>
      <dgm:spPr/>
    </dgm:pt>
    <dgm:pt modelId="{68DC0C95-86EF-8746-9643-6A04364DC177}" type="pres">
      <dgm:prSet presAssocID="{DEDAE6DD-51BF-4636-BB23-951D934BC29D}" presName="node" presStyleLbl="node1" presStyleIdx="2" presStyleCnt="12">
        <dgm:presLayoutVars>
          <dgm:bulletEnabled val="1"/>
        </dgm:presLayoutVars>
      </dgm:prSet>
      <dgm:spPr/>
    </dgm:pt>
    <dgm:pt modelId="{CA3D128F-082F-8C4B-A3A7-5BD89A757313}" type="pres">
      <dgm:prSet presAssocID="{14E6D55A-FFF8-4DDA-A585-C66DAED96B1D}" presName="sibTrans" presStyleLbl="sibTrans1D1" presStyleIdx="2" presStyleCnt="11"/>
      <dgm:spPr/>
    </dgm:pt>
    <dgm:pt modelId="{1D4B7550-7E3C-FE4E-AC3F-E92744B3BEAF}" type="pres">
      <dgm:prSet presAssocID="{14E6D55A-FFF8-4DDA-A585-C66DAED96B1D}" presName="connectorText" presStyleLbl="sibTrans1D1" presStyleIdx="2" presStyleCnt="11"/>
      <dgm:spPr/>
    </dgm:pt>
    <dgm:pt modelId="{0E0C1B5D-6049-A743-A044-8CBA31650CA5}" type="pres">
      <dgm:prSet presAssocID="{F9BBB55E-613C-4FE4-83B4-C16B3520D73C}" presName="node" presStyleLbl="node1" presStyleIdx="3" presStyleCnt="12">
        <dgm:presLayoutVars>
          <dgm:bulletEnabled val="1"/>
        </dgm:presLayoutVars>
      </dgm:prSet>
      <dgm:spPr/>
    </dgm:pt>
    <dgm:pt modelId="{796A5889-FB1D-534B-B2B9-BF83BE953D8D}" type="pres">
      <dgm:prSet presAssocID="{F9C914B3-159C-435D-9691-99A4BD073359}" presName="sibTrans" presStyleLbl="sibTrans1D1" presStyleIdx="3" presStyleCnt="11"/>
      <dgm:spPr/>
    </dgm:pt>
    <dgm:pt modelId="{E1034508-C0CB-2E4B-B8B0-41FA4BABDE4D}" type="pres">
      <dgm:prSet presAssocID="{F9C914B3-159C-435D-9691-99A4BD073359}" presName="connectorText" presStyleLbl="sibTrans1D1" presStyleIdx="3" presStyleCnt="11"/>
      <dgm:spPr/>
    </dgm:pt>
    <dgm:pt modelId="{5DBCD1F0-3F69-5C48-A583-B7B5008C26A9}" type="pres">
      <dgm:prSet presAssocID="{03211EE5-39EA-4783-BF02-BD7F81C4D28C}" presName="node" presStyleLbl="node1" presStyleIdx="4" presStyleCnt="12" custScaleX="127280">
        <dgm:presLayoutVars>
          <dgm:bulletEnabled val="1"/>
        </dgm:presLayoutVars>
      </dgm:prSet>
      <dgm:spPr/>
    </dgm:pt>
    <dgm:pt modelId="{D49F0E10-D704-8642-9D0C-2DE92DFE1B88}" type="pres">
      <dgm:prSet presAssocID="{C92CF2A0-57BB-4EB1-B741-7960B1060CA9}" presName="sibTrans" presStyleLbl="sibTrans1D1" presStyleIdx="4" presStyleCnt="11"/>
      <dgm:spPr/>
    </dgm:pt>
    <dgm:pt modelId="{2A174AB8-D368-CC40-AD1E-6421A08869CD}" type="pres">
      <dgm:prSet presAssocID="{C92CF2A0-57BB-4EB1-B741-7960B1060CA9}" presName="connectorText" presStyleLbl="sibTrans1D1" presStyleIdx="4" presStyleCnt="11"/>
      <dgm:spPr/>
    </dgm:pt>
    <dgm:pt modelId="{3F65D177-B33B-0D4A-8C58-9B6A5C9DF127}" type="pres">
      <dgm:prSet presAssocID="{ECB326E3-8C2B-4343-B41F-61029E22E1F6}" presName="node" presStyleLbl="node1" presStyleIdx="5" presStyleCnt="12">
        <dgm:presLayoutVars>
          <dgm:bulletEnabled val="1"/>
        </dgm:presLayoutVars>
      </dgm:prSet>
      <dgm:spPr/>
    </dgm:pt>
    <dgm:pt modelId="{75DAD476-B030-7D4C-B950-7F73297FD785}" type="pres">
      <dgm:prSet presAssocID="{08D2028B-9617-4C3E-B23B-C4672463B4F4}" presName="sibTrans" presStyleLbl="sibTrans1D1" presStyleIdx="5" presStyleCnt="11"/>
      <dgm:spPr/>
    </dgm:pt>
    <dgm:pt modelId="{A027F9CE-B17D-7C45-A09B-8F038FC4B459}" type="pres">
      <dgm:prSet presAssocID="{08D2028B-9617-4C3E-B23B-C4672463B4F4}" presName="connectorText" presStyleLbl="sibTrans1D1" presStyleIdx="5" presStyleCnt="11"/>
      <dgm:spPr/>
    </dgm:pt>
    <dgm:pt modelId="{4394A3D1-4FA9-614B-9FCD-E7EAD78B750A}" type="pres">
      <dgm:prSet presAssocID="{010F3D72-BD8B-4403-B07F-2AC9811057F5}" presName="node" presStyleLbl="node1" presStyleIdx="6" presStyleCnt="12">
        <dgm:presLayoutVars>
          <dgm:bulletEnabled val="1"/>
        </dgm:presLayoutVars>
      </dgm:prSet>
      <dgm:spPr/>
    </dgm:pt>
    <dgm:pt modelId="{58EA5D28-6D65-E74C-8C31-711411FE4561}" type="pres">
      <dgm:prSet presAssocID="{74D26997-78D1-42C8-97E5-9035685B4EE8}" presName="sibTrans" presStyleLbl="sibTrans1D1" presStyleIdx="6" presStyleCnt="11"/>
      <dgm:spPr/>
    </dgm:pt>
    <dgm:pt modelId="{A5DC24B9-AB49-504C-B451-2142ACCA28A4}" type="pres">
      <dgm:prSet presAssocID="{74D26997-78D1-42C8-97E5-9035685B4EE8}" presName="connectorText" presStyleLbl="sibTrans1D1" presStyleIdx="6" presStyleCnt="11"/>
      <dgm:spPr/>
    </dgm:pt>
    <dgm:pt modelId="{9EA3B65B-AF6D-2247-848A-7A777BAE5E6D}" type="pres">
      <dgm:prSet presAssocID="{66768FE4-B861-4335-8D33-ED3CE4C26202}" presName="node" presStyleLbl="node1" presStyleIdx="7" presStyleCnt="12">
        <dgm:presLayoutVars>
          <dgm:bulletEnabled val="1"/>
        </dgm:presLayoutVars>
      </dgm:prSet>
      <dgm:spPr/>
    </dgm:pt>
    <dgm:pt modelId="{70793E1C-E258-C347-812A-C73C3121B720}" type="pres">
      <dgm:prSet presAssocID="{EB9FFC40-AD84-452B-B992-7F4E0839EE6C}" presName="sibTrans" presStyleLbl="sibTrans1D1" presStyleIdx="7" presStyleCnt="11"/>
      <dgm:spPr/>
    </dgm:pt>
    <dgm:pt modelId="{E33083CF-23CF-9F42-B1FE-A4678B072616}" type="pres">
      <dgm:prSet presAssocID="{EB9FFC40-AD84-452B-B992-7F4E0839EE6C}" presName="connectorText" presStyleLbl="sibTrans1D1" presStyleIdx="7" presStyleCnt="11"/>
      <dgm:spPr/>
    </dgm:pt>
    <dgm:pt modelId="{C33C4E8F-E6ED-E946-8D54-2A729302F719}" type="pres">
      <dgm:prSet presAssocID="{2C4141F6-3859-45EE-9B0A-E9859E00A58B}" presName="node" presStyleLbl="node1" presStyleIdx="8" presStyleCnt="12" custScaleX="131281">
        <dgm:presLayoutVars>
          <dgm:bulletEnabled val="1"/>
        </dgm:presLayoutVars>
      </dgm:prSet>
      <dgm:spPr/>
    </dgm:pt>
    <dgm:pt modelId="{C8D79113-3DEA-0547-AA0F-3E4CE2FB7D51}" type="pres">
      <dgm:prSet presAssocID="{E08A4720-0C99-42D4-802E-24FC706F6BBE}" presName="sibTrans" presStyleLbl="sibTrans1D1" presStyleIdx="8" presStyleCnt="11"/>
      <dgm:spPr/>
    </dgm:pt>
    <dgm:pt modelId="{036E33D2-BE19-7C46-A98B-CD8EC674FF18}" type="pres">
      <dgm:prSet presAssocID="{E08A4720-0C99-42D4-802E-24FC706F6BBE}" presName="connectorText" presStyleLbl="sibTrans1D1" presStyleIdx="8" presStyleCnt="11"/>
      <dgm:spPr/>
    </dgm:pt>
    <dgm:pt modelId="{1667D48D-806B-0445-AFD9-73D6E4BE8219}" type="pres">
      <dgm:prSet presAssocID="{FE7B3542-2169-4EB6-B327-188C2A9664D8}" presName="node" presStyleLbl="node1" presStyleIdx="9" presStyleCnt="12">
        <dgm:presLayoutVars>
          <dgm:bulletEnabled val="1"/>
        </dgm:presLayoutVars>
      </dgm:prSet>
      <dgm:spPr/>
    </dgm:pt>
    <dgm:pt modelId="{97D789DD-16C9-AC44-B461-D1790404DEE4}" type="pres">
      <dgm:prSet presAssocID="{8805D643-264D-49E4-8BBC-DA01F5F9185F}" presName="sibTrans" presStyleLbl="sibTrans1D1" presStyleIdx="9" presStyleCnt="11"/>
      <dgm:spPr/>
    </dgm:pt>
    <dgm:pt modelId="{8CC3D992-29FC-AD48-B121-ACBCFF178ECE}" type="pres">
      <dgm:prSet presAssocID="{8805D643-264D-49E4-8BBC-DA01F5F9185F}" presName="connectorText" presStyleLbl="sibTrans1D1" presStyleIdx="9" presStyleCnt="11"/>
      <dgm:spPr/>
    </dgm:pt>
    <dgm:pt modelId="{55CCE343-E18E-CA42-9EA4-9D4EF2BE33F7}" type="pres">
      <dgm:prSet presAssocID="{AA26AA32-A9FD-4990-B414-DDD81AB2F801}" presName="node" presStyleLbl="node1" presStyleIdx="10" presStyleCnt="12">
        <dgm:presLayoutVars>
          <dgm:bulletEnabled val="1"/>
        </dgm:presLayoutVars>
      </dgm:prSet>
      <dgm:spPr/>
    </dgm:pt>
    <dgm:pt modelId="{9037C034-AD48-F944-BC95-BD2EF909C63D}" type="pres">
      <dgm:prSet presAssocID="{59799CA2-75CE-4FF8-AACF-086B4545975F}" presName="sibTrans" presStyleLbl="sibTrans1D1" presStyleIdx="10" presStyleCnt="11"/>
      <dgm:spPr/>
    </dgm:pt>
    <dgm:pt modelId="{F0335895-AB25-4E49-A194-9C3C23B31080}" type="pres">
      <dgm:prSet presAssocID="{59799CA2-75CE-4FF8-AACF-086B4545975F}" presName="connectorText" presStyleLbl="sibTrans1D1" presStyleIdx="10" presStyleCnt="11"/>
      <dgm:spPr/>
    </dgm:pt>
    <dgm:pt modelId="{2038EC11-CEDF-0D45-9C37-FACF17466F18}" type="pres">
      <dgm:prSet presAssocID="{7A27195D-6201-4173-8176-D9F072B05FD1}" presName="node" presStyleLbl="node1" presStyleIdx="11" presStyleCnt="12">
        <dgm:presLayoutVars>
          <dgm:bulletEnabled val="1"/>
        </dgm:presLayoutVars>
      </dgm:prSet>
      <dgm:spPr/>
    </dgm:pt>
  </dgm:ptLst>
  <dgm:cxnLst>
    <dgm:cxn modelId="{CC31B001-ADBE-478B-BF05-CBAA8B271B37}" srcId="{7C949182-36F5-4D62-A7DA-CE624D52FC43}" destId="{F9BBB55E-613C-4FE4-83B4-C16B3520D73C}" srcOrd="3" destOrd="0" parTransId="{57861EAE-7D8D-4ACF-A0E4-663310CD946F}" sibTransId="{F9C914B3-159C-435D-9691-99A4BD073359}"/>
    <dgm:cxn modelId="{0167B102-3A28-7645-9A2E-7DB04E8B6EF3}" type="presOf" srcId="{E08A4720-0C99-42D4-802E-24FC706F6BBE}" destId="{036E33D2-BE19-7C46-A98B-CD8EC674FF18}" srcOrd="1" destOrd="0" presId="urn:microsoft.com/office/officeart/2016/7/layout/RepeatingBendingProcessNew"/>
    <dgm:cxn modelId="{929E9704-677E-4494-9CD9-53B5F8A900C9}" srcId="{7C949182-36F5-4D62-A7DA-CE624D52FC43}" destId="{2C4141F6-3859-45EE-9B0A-E9859E00A58B}" srcOrd="8" destOrd="0" parTransId="{803FE595-5F93-4274-8DAA-AFF4B991EF05}" sibTransId="{E08A4720-0C99-42D4-802E-24FC706F6BBE}"/>
    <dgm:cxn modelId="{BD3B1A05-9F3B-4553-8A4A-B3CF72499C80}" srcId="{7C949182-36F5-4D62-A7DA-CE624D52FC43}" destId="{010F3D72-BD8B-4403-B07F-2AC9811057F5}" srcOrd="6" destOrd="0" parTransId="{7267CCCD-F1D7-4AAD-B486-314945ED3AB0}" sibTransId="{74D26997-78D1-42C8-97E5-9035685B4EE8}"/>
    <dgm:cxn modelId="{FD3F360C-1FDA-1441-9DC5-88F74C147B29}" type="presOf" srcId="{14E6D55A-FFF8-4DDA-A585-C66DAED96B1D}" destId="{1D4B7550-7E3C-FE4E-AC3F-E92744B3BEAF}" srcOrd="1" destOrd="0" presId="urn:microsoft.com/office/officeart/2016/7/layout/RepeatingBendingProcessNew"/>
    <dgm:cxn modelId="{3831B40D-FB53-1C46-99BB-0A316BA25C04}" type="presOf" srcId="{C92CF2A0-57BB-4EB1-B741-7960B1060CA9}" destId="{D49F0E10-D704-8642-9D0C-2DE92DFE1B88}" srcOrd="0" destOrd="0" presId="urn:microsoft.com/office/officeart/2016/7/layout/RepeatingBendingProcessNew"/>
    <dgm:cxn modelId="{718D1018-C6A3-2442-80A6-33D61577BCAC}" type="presOf" srcId="{F9C914B3-159C-435D-9691-99A4BD073359}" destId="{796A5889-FB1D-534B-B2B9-BF83BE953D8D}" srcOrd="0" destOrd="0" presId="urn:microsoft.com/office/officeart/2016/7/layout/RepeatingBendingProcessNew"/>
    <dgm:cxn modelId="{5066C025-AB50-4442-A400-57350300A4BC}" type="presOf" srcId="{93C21CBE-6826-4E61-A268-3A0BC597F3EB}" destId="{5E5DF810-715F-2D42-B033-7F1C0B402F77}" srcOrd="1" destOrd="0" presId="urn:microsoft.com/office/officeart/2016/7/layout/RepeatingBendingProcessNew"/>
    <dgm:cxn modelId="{166A6F26-4756-FF45-A763-00E65C6CD896}" type="presOf" srcId="{5D68C696-502B-4F4E-8651-E3B1C0D7E869}" destId="{194AB663-E8A7-F546-A4E9-90E5F5CD2E84}" srcOrd="1" destOrd="0" presId="urn:microsoft.com/office/officeart/2016/7/layout/RepeatingBendingProcessNew"/>
    <dgm:cxn modelId="{C0B27127-61C3-8243-BE59-CBF46C97CA37}" type="presOf" srcId="{59799CA2-75CE-4FF8-AACF-086B4545975F}" destId="{F0335895-AB25-4E49-A194-9C3C23B31080}" srcOrd="1" destOrd="0" presId="urn:microsoft.com/office/officeart/2016/7/layout/RepeatingBendingProcessNew"/>
    <dgm:cxn modelId="{8176962D-BDCD-6D44-96D8-EECFA77450F4}" type="presOf" srcId="{7C949182-36F5-4D62-A7DA-CE624D52FC43}" destId="{885BD541-7A4F-3B45-B4A8-9096EB5E9090}" srcOrd="0" destOrd="0" presId="urn:microsoft.com/office/officeart/2016/7/layout/RepeatingBendingProcessNew"/>
    <dgm:cxn modelId="{91A0D72D-2E86-7748-8160-B1ACFA4D0E8A}" type="presOf" srcId="{74D26997-78D1-42C8-97E5-9035685B4EE8}" destId="{A5DC24B9-AB49-504C-B451-2142ACCA28A4}" srcOrd="1" destOrd="0" presId="urn:microsoft.com/office/officeart/2016/7/layout/RepeatingBendingProcessNew"/>
    <dgm:cxn modelId="{AC468030-8A60-BC4C-B556-30B01D2FCB83}" type="presOf" srcId="{7A27195D-6201-4173-8176-D9F072B05FD1}" destId="{2038EC11-CEDF-0D45-9C37-FACF17466F18}" srcOrd="0" destOrd="0" presId="urn:microsoft.com/office/officeart/2016/7/layout/RepeatingBendingProcessNew"/>
    <dgm:cxn modelId="{E1D53438-9A35-4CE2-BB6D-7AE4E22702AB}" srcId="{7C949182-36F5-4D62-A7DA-CE624D52FC43}" destId="{EE761C52-4CF8-4346-9E31-C5BB927E3D78}" srcOrd="0" destOrd="0" parTransId="{B67BC33F-69B0-409A-9787-A2805C08BA6F}" sibTransId="{93C21CBE-6826-4E61-A268-3A0BC597F3EB}"/>
    <dgm:cxn modelId="{03056A41-79E3-2448-AF57-198A8EFE00ED}" type="presOf" srcId="{87B89F5C-4699-4EE8-A15C-AE76CCE0FC75}" destId="{805CFF60-0359-0147-BDD2-DE6E193A211F}" srcOrd="0" destOrd="0" presId="urn:microsoft.com/office/officeart/2016/7/layout/RepeatingBendingProcessNew"/>
    <dgm:cxn modelId="{F488EB44-42DF-7341-9791-FBE1FC80C508}" type="presOf" srcId="{08D2028B-9617-4C3E-B23B-C4672463B4F4}" destId="{A027F9CE-B17D-7C45-A09B-8F038FC4B459}" srcOrd="1" destOrd="0" presId="urn:microsoft.com/office/officeart/2016/7/layout/RepeatingBendingProcessNew"/>
    <dgm:cxn modelId="{49CBA945-61B7-FD4A-845D-953E11209F0D}" type="presOf" srcId="{010F3D72-BD8B-4403-B07F-2AC9811057F5}" destId="{4394A3D1-4FA9-614B-9FCD-E7EAD78B750A}" srcOrd="0" destOrd="0" presId="urn:microsoft.com/office/officeart/2016/7/layout/RepeatingBendingProcessNew"/>
    <dgm:cxn modelId="{9AE6F745-9914-462E-914D-90F143DFD8C5}" srcId="{7C949182-36F5-4D62-A7DA-CE624D52FC43}" destId="{66768FE4-B861-4335-8D33-ED3CE4C26202}" srcOrd="7" destOrd="0" parTransId="{DC8E0E49-95EB-486F-A64D-CD11C737F427}" sibTransId="{EB9FFC40-AD84-452B-B992-7F4E0839EE6C}"/>
    <dgm:cxn modelId="{C18A134A-481A-41B7-9D62-425688A3F9C0}" srcId="{7C949182-36F5-4D62-A7DA-CE624D52FC43}" destId="{03211EE5-39EA-4783-BF02-BD7F81C4D28C}" srcOrd="4" destOrd="0" parTransId="{329EEFE3-95C3-47F4-97F9-6530F76AEA4C}" sibTransId="{C92CF2A0-57BB-4EB1-B741-7960B1060CA9}"/>
    <dgm:cxn modelId="{FEDDE14B-A393-CE40-97C5-C38D6D96236E}" type="presOf" srcId="{59799CA2-75CE-4FF8-AACF-086B4545975F}" destId="{9037C034-AD48-F944-BC95-BD2EF909C63D}" srcOrd="0" destOrd="0" presId="urn:microsoft.com/office/officeart/2016/7/layout/RepeatingBendingProcessNew"/>
    <dgm:cxn modelId="{AB8C334D-B33B-4E50-81E1-2698A05E08B7}" srcId="{7C949182-36F5-4D62-A7DA-CE624D52FC43}" destId="{7A27195D-6201-4173-8176-D9F072B05FD1}" srcOrd="11" destOrd="0" parTransId="{DEA3E149-CA87-4A61-ADDD-B0D60AB6EFDB}" sibTransId="{C8C51261-4720-4768-A18C-ECFA2FA47834}"/>
    <dgm:cxn modelId="{5F95B752-A3A9-49CE-92EF-8F693EDF7BFB}" srcId="{7C949182-36F5-4D62-A7DA-CE624D52FC43}" destId="{87B89F5C-4699-4EE8-A15C-AE76CCE0FC75}" srcOrd="1" destOrd="0" parTransId="{C5BEFF04-6B19-477B-B064-051B5FBECE3B}" sibTransId="{5D68C696-502B-4F4E-8651-E3B1C0D7E869}"/>
    <dgm:cxn modelId="{3D18EC54-E11D-40DF-81B4-467A3204AC02}" srcId="{7C949182-36F5-4D62-A7DA-CE624D52FC43}" destId="{FE7B3542-2169-4EB6-B327-188C2A9664D8}" srcOrd="9" destOrd="0" parTransId="{70BAB4F3-A9C9-434A-B15E-150F4D1302EF}" sibTransId="{8805D643-264D-49E4-8BBC-DA01F5F9185F}"/>
    <dgm:cxn modelId="{8D8D6874-DEC8-4256-AA3C-C3F366CF4350}" srcId="{7C949182-36F5-4D62-A7DA-CE624D52FC43}" destId="{DEDAE6DD-51BF-4636-BB23-951D934BC29D}" srcOrd="2" destOrd="0" parTransId="{AE5A4232-694D-471C-84DA-78E2E6385BCB}" sibTransId="{14E6D55A-FFF8-4DDA-A585-C66DAED96B1D}"/>
    <dgm:cxn modelId="{FED6C184-23E6-6A46-998A-D5C7918DD8CF}" type="presOf" srcId="{EB9FFC40-AD84-452B-B992-7F4E0839EE6C}" destId="{70793E1C-E258-C347-812A-C73C3121B720}" srcOrd="0" destOrd="0" presId="urn:microsoft.com/office/officeart/2016/7/layout/RepeatingBendingProcessNew"/>
    <dgm:cxn modelId="{268DB886-E157-4E4E-8403-3DBD9FA9F051}" type="presOf" srcId="{74D26997-78D1-42C8-97E5-9035685B4EE8}" destId="{58EA5D28-6D65-E74C-8C31-711411FE4561}" srcOrd="0" destOrd="0" presId="urn:microsoft.com/office/officeart/2016/7/layout/RepeatingBendingProcessNew"/>
    <dgm:cxn modelId="{431E8DA1-DC5A-A44B-B722-FE66178223FF}" type="presOf" srcId="{08D2028B-9617-4C3E-B23B-C4672463B4F4}" destId="{75DAD476-B030-7D4C-B950-7F73297FD785}" srcOrd="0" destOrd="0" presId="urn:microsoft.com/office/officeart/2016/7/layout/RepeatingBendingProcessNew"/>
    <dgm:cxn modelId="{EF276DA5-ED1A-B54F-A8B0-706AB48E9E13}" type="presOf" srcId="{03211EE5-39EA-4783-BF02-BD7F81C4D28C}" destId="{5DBCD1F0-3F69-5C48-A583-B7B5008C26A9}" srcOrd="0" destOrd="0" presId="urn:microsoft.com/office/officeart/2016/7/layout/RepeatingBendingProcessNew"/>
    <dgm:cxn modelId="{6626DCAE-9105-4F4B-ACA0-ADD7190B0DB0}" type="presOf" srcId="{5D68C696-502B-4F4E-8651-E3B1C0D7E869}" destId="{37AB6953-B98D-EA4B-A5B3-EC1A5ECC0E61}" srcOrd="0" destOrd="0" presId="urn:microsoft.com/office/officeart/2016/7/layout/RepeatingBendingProcessNew"/>
    <dgm:cxn modelId="{2D81F9B0-553A-034C-A6F0-B49CAF126385}" type="presOf" srcId="{FE7B3542-2169-4EB6-B327-188C2A9664D8}" destId="{1667D48D-806B-0445-AFD9-73D6E4BE8219}" srcOrd="0" destOrd="0" presId="urn:microsoft.com/office/officeart/2016/7/layout/RepeatingBendingProcessNew"/>
    <dgm:cxn modelId="{AE73C8B7-2060-7042-AD1F-5343DE2FCB87}" type="presOf" srcId="{EE761C52-4CF8-4346-9E31-C5BB927E3D78}" destId="{A5C054EC-29FD-2648-A3D0-3F213371587E}" srcOrd="0" destOrd="0" presId="urn:microsoft.com/office/officeart/2016/7/layout/RepeatingBendingProcessNew"/>
    <dgm:cxn modelId="{165198BC-871C-C04F-9F92-064CA4F87DD6}" type="presOf" srcId="{E08A4720-0C99-42D4-802E-24FC706F6BBE}" destId="{C8D79113-3DEA-0547-AA0F-3E4CE2FB7D51}" srcOrd="0" destOrd="0" presId="urn:microsoft.com/office/officeart/2016/7/layout/RepeatingBendingProcessNew"/>
    <dgm:cxn modelId="{897B70C1-581B-FC4A-8D4C-FB785BC6FAEA}" type="presOf" srcId="{AA26AA32-A9FD-4990-B414-DDD81AB2F801}" destId="{55CCE343-E18E-CA42-9EA4-9D4EF2BE33F7}" srcOrd="0" destOrd="0" presId="urn:microsoft.com/office/officeart/2016/7/layout/RepeatingBendingProcessNew"/>
    <dgm:cxn modelId="{978599CD-309F-6E4D-B949-E0E860F778D6}" type="presOf" srcId="{2C4141F6-3859-45EE-9B0A-E9859E00A58B}" destId="{C33C4E8F-E6ED-E946-8D54-2A729302F719}" srcOrd="0" destOrd="0" presId="urn:microsoft.com/office/officeart/2016/7/layout/RepeatingBendingProcessNew"/>
    <dgm:cxn modelId="{4A7523D6-DCA4-0142-B0E4-3617CB32EF01}" type="presOf" srcId="{ECB326E3-8C2B-4343-B41F-61029E22E1F6}" destId="{3F65D177-B33B-0D4A-8C58-9B6A5C9DF127}" srcOrd="0" destOrd="0" presId="urn:microsoft.com/office/officeart/2016/7/layout/RepeatingBendingProcessNew"/>
    <dgm:cxn modelId="{C5977FDE-5926-4314-A13F-A07E73806AA7}" srcId="{7C949182-36F5-4D62-A7DA-CE624D52FC43}" destId="{AA26AA32-A9FD-4990-B414-DDD81AB2F801}" srcOrd="10" destOrd="0" parTransId="{C7336A2F-2371-4DB5-9A25-8C4A1CA4728B}" sibTransId="{59799CA2-75CE-4FF8-AACF-086B4545975F}"/>
    <dgm:cxn modelId="{452059DF-E737-8044-8532-C08AD523FFF5}" type="presOf" srcId="{8805D643-264D-49E4-8BBC-DA01F5F9185F}" destId="{97D789DD-16C9-AC44-B461-D1790404DEE4}" srcOrd="0" destOrd="0" presId="urn:microsoft.com/office/officeart/2016/7/layout/RepeatingBendingProcessNew"/>
    <dgm:cxn modelId="{7E52ADDF-8AEF-F046-A05F-EB98377E6103}" type="presOf" srcId="{C92CF2A0-57BB-4EB1-B741-7960B1060CA9}" destId="{2A174AB8-D368-CC40-AD1E-6421A08869CD}" srcOrd="1" destOrd="0" presId="urn:microsoft.com/office/officeart/2016/7/layout/RepeatingBendingProcessNew"/>
    <dgm:cxn modelId="{9439E1E0-2660-6D4F-81D5-AF680C036B4B}" type="presOf" srcId="{EB9FFC40-AD84-452B-B992-7F4E0839EE6C}" destId="{E33083CF-23CF-9F42-B1FE-A4678B072616}" srcOrd="1" destOrd="0" presId="urn:microsoft.com/office/officeart/2016/7/layout/RepeatingBendingProcessNew"/>
    <dgm:cxn modelId="{69E665E1-F50A-A447-85D4-4003A500F84F}" type="presOf" srcId="{14E6D55A-FFF8-4DDA-A585-C66DAED96B1D}" destId="{CA3D128F-082F-8C4B-A3A7-5BD89A757313}" srcOrd="0" destOrd="0" presId="urn:microsoft.com/office/officeart/2016/7/layout/RepeatingBendingProcessNew"/>
    <dgm:cxn modelId="{1A3E39E6-DAE1-4DF6-8F28-A97165FB7682}" srcId="{7C949182-36F5-4D62-A7DA-CE624D52FC43}" destId="{ECB326E3-8C2B-4343-B41F-61029E22E1F6}" srcOrd="5" destOrd="0" parTransId="{653CBBD5-7E93-4FCF-9434-4356193F5C2E}" sibTransId="{08D2028B-9617-4C3E-B23B-C4672463B4F4}"/>
    <dgm:cxn modelId="{9A7544E6-04BC-F045-A008-5A94774FC3D9}" type="presOf" srcId="{93C21CBE-6826-4E61-A268-3A0BC597F3EB}" destId="{A6714DF2-3B78-AE4C-BCC4-C1F49275F1A5}" srcOrd="0" destOrd="0" presId="urn:microsoft.com/office/officeart/2016/7/layout/RepeatingBendingProcessNew"/>
    <dgm:cxn modelId="{FFD779E8-E188-5D4D-8873-91A805A75418}" type="presOf" srcId="{F9C914B3-159C-435D-9691-99A4BD073359}" destId="{E1034508-C0CB-2E4B-B8B0-41FA4BABDE4D}" srcOrd="1" destOrd="0" presId="urn:microsoft.com/office/officeart/2016/7/layout/RepeatingBendingProcessNew"/>
    <dgm:cxn modelId="{BBE3AFE9-E34F-0F4B-997F-CF1B525CAD9D}" type="presOf" srcId="{F9BBB55E-613C-4FE4-83B4-C16B3520D73C}" destId="{0E0C1B5D-6049-A743-A044-8CBA31650CA5}" srcOrd="0" destOrd="0" presId="urn:microsoft.com/office/officeart/2016/7/layout/RepeatingBendingProcessNew"/>
    <dgm:cxn modelId="{ED29CBF2-E14F-7D41-A44E-92BD3298DF9A}" type="presOf" srcId="{DEDAE6DD-51BF-4636-BB23-951D934BC29D}" destId="{68DC0C95-86EF-8746-9643-6A04364DC177}" srcOrd="0" destOrd="0" presId="urn:microsoft.com/office/officeart/2016/7/layout/RepeatingBendingProcessNew"/>
    <dgm:cxn modelId="{643764F6-842A-8E4F-9304-5C66776613A7}" type="presOf" srcId="{66768FE4-B861-4335-8D33-ED3CE4C26202}" destId="{9EA3B65B-AF6D-2247-848A-7A777BAE5E6D}" srcOrd="0" destOrd="0" presId="urn:microsoft.com/office/officeart/2016/7/layout/RepeatingBendingProcessNew"/>
    <dgm:cxn modelId="{54C60EFB-3556-A246-8288-6CFEA5317530}" type="presOf" srcId="{8805D643-264D-49E4-8BBC-DA01F5F9185F}" destId="{8CC3D992-29FC-AD48-B121-ACBCFF178ECE}" srcOrd="1" destOrd="0" presId="urn:microsoft.com/office/officeart/2016/7/layout/RepeatingBendingProcessNew"/>
    <dgm:cxn modelId="{B9F9CB7C-4B13-FA46-98AF-988545B4585D}" type="presParOf" srcId="{885BD541-7A4F-3B45-B4A8-9096EB5E9090}" destId="{A5C054EC-29FD-2648-A3D0-3F213371587E}" srcOrd="0" destOrd="0" presId="urn:microsoft.com/office/officeart/2016/7/layout/RepeatingBendingProcessNew"/>
    <dgm:cxn modelId="{C538B6EC-A041-D24E-84A2-E97E6ECC8410}" type="presParOf" srcId="{885BD541-7A4F-3B45-B4A8-9096EB5E9090}" destId="{A6714DF2-3B78-AE4C-BCC4-C1F49275F1A5}" srcOrd="1" destOrd="0" presId="urn:microsoft.com/office/officeart/2016/7/layout/RepeatingBendingProcessNew"/>
    <dgm:cxn modelId="{2B8403BD-9468-904B-BB47-2A224380576B}" type="presParOf" srcId="{A6714DF2-3B78-AE4C-BCC4-C1F49275F1A5}" destId="{5E5DF810-715F-2D42-B033-7F1C0B402F77}" srcOrd="0" destOrd="0" presId="urn:microsoft.com/office/officeart/2016/7/layout/RepeatingBendingProcessNew"/>
    <dgm:cxn modelId="{3453FB1E-86C1-214A-9136-4F5EB8E627CF}" type="presParOf" srcId="{885BD541-7A4F-3B45-B4A8-9096EB5E9090}" destId="{805CFF60-0359-0147-BDD2-DE6E193A211F}" srcOrd="2" destOrd="0" presId="urn:microsoft.com/office/officeart/2016/7/layout/RepeatingBendingProcessNew"/>
    <dgm:cxn modelId="{F8F773DF-AD55-4443-99A8-303CA0586481}" type="presParOf" srcId="{885BD541-7A4F-3B45-B4A8-9096EB5E9090}" destId="{37AB6953-B98D-EA4B-A5B3-EC1A5ECC0E61}" srcOrd="3" destOrd="0" presId="urn:microsoft.com/office/officeart/2016/7/layout/RepeatingBendingProcessNew"/>
    <dgm:cxn modelId="{741E5E39-9FC5-5E46-8446-2599190B2073}" type="presParOf" srcId="{37AB6953-B98D-EA4B-A5B3-EC1A5ECC0E61}" destId="{194AB663-E8A7-F546-A4E9-90E5F5CD2E84}" srcOrd="0" destOrd="0" presId="urn:microsoft.com/office/officeart/2016/7/layout/RepeatingBendingProcessNew"/>
    <dgm:cxn modelId="{2AC8AF5E-330A-5E4B-9921-5B2E3942CFAE}" type="presParOf" srcId="{885BD541-7A4F-3B45-B4A8-9096EB5E9090}" destId="{68DC0C95-86EF-8746-9643-6A04364DC177}" srcOrd="4" destOrd="0" presId="urn:microsoft.com/office/officeart/2016/7/layout/RepeatingBendingProcessNew"/>
    <dgm:cxn modelId="{F2AF5BAD-B315-DF4B-8550-5134FEDAD584}" type="presParOf" srcId="{885BD541-7A4F-3B45-B4A8-9096EB5E9090}" destId="{CA3D128F-082F-8C4B-A3A7-5BD89A757313}" srcOrd="5" destOrd="0" presId="urn:microsoft.com/office/officeart/2016/7/layout/RepeatingBendingProcessNew"/>
    <dgm:cxn modelId="{F54F9562-07F3-0245-B6E0-016E6D610C3F}" type="presParOf" srcId="{CA3D128F-082F-8C4B-A3A7-5BD89A757313}" destId="{1D4B7550-7E3C-FE4E-AC3F-E92744B3BEAF}" srcOrd="0" destOrd="0" presId="urn:microsoft.com/office/officeart/2016/7/layout/RepeatingBendingProcessNew"/>
    <dgm:cxn modelId="{95A0C851-02F3-FD40-A407-FCF46EC88FFC}" type="presParOf" srcId="{885BD541-7A4F-3B45-B4A8-9096EB5E9090}" destId="{0E0C1B5D-6049-A743-A044-8CBA31650CA5}" srcOrd="6" destOrd="0" presId="urn:microsoft.com/office/officeart/2016/7/layout/RepeatingBendingProcessNew"/>
    <dgm:cxn modelId="{4EC9DF46-93A1-154D-AC0B-2502BEE0BC3A}" type="presParOf" srcId="{885BD541-7A4F-3B45-B4A8-9096EB5E9090}" destId="{796A5889-FB1D-534B-B2B9-BF83BE953D8D}" srcOrd="7" destOrd="0" presId="urn:microsoft.com/office/officeart/2016/7/layout/RepeatingBendingProcessNew"/>
    <dgm:cxn modelId="{3630F95C-2A9C-1F4C-9E6D-E669DFB94C99}" type="presParOf" srcId="{796A5889-FB1D-534B-B2B9-BF83BE953D8D}" destId="{E1034508-C0CB-2E4B-B8B0-41FA4BABDE4D}" srcOrd="0" destOrd="0" presId="urn:microsoft.com/office/officeart/2016/7/layout/RepeatingBendingProcessNew"/>
    <dgm:cxn modelId="{0B324CF4-AA38-114C-A443-ED92B6EB9152}" type="presParOf" srcId="{885BD541-7A4F-3B45-B4A8-9096EB5E9090}" destId="{5DBCD1F0-3F69-5C48-A583-B7B5008C26A9}" srcOrd="8" destOrd="0" presId="urn:microsoft.com/office/officeart/2016/7/layout/RepeatingBendingProcessNew"/>
    <dgm:cxn modelId="{55E50B96-54BE-A348-A649-0760C4D396DB}" type="presParOf" srcId="{885BD541-7A4F-3B45-B4A8-9096EB5E9090}" destId="{D49F0E10-D704-8642-9D0C-2DE92DFE1B88}" srcOrd="9" destOrd="0" presId="urn:microsoft.com/office/officeart/2016/7/layout/RepeatingBendingProcessNew"/>
    <dgm:cxn modelId="{5CAC5688-A436-164C-BE39-99DD057FB892}" type="presParOf" srcId="{D49F0E10-D704-8642-9D0C-2DE92DFE1B88}" destId="{2A174AB8-D368-CC40-AD1E-6421A08869CD}" srcOrd="0" destOrd="0" presId="urn:microsoft.com/office/officeart/2016/7/layout/RepeatingBendingProcessNew"/>
    <dgm:cxn modelId="{A97E8BF4-255A-824E-8F0E-C80D95CC92B7}" type="presParOf" srcId="{885BD541-7A4F-3B45-B4A8-9096EB5E9090}" destId="{3F65D177-B33B-0D4A-8C58-9B6A5C9DF127}" srcOrd="10" destOrd="0" presId="urn:microsoft.com/office/officeart/2016/7/layout/RepeatingBendingProcessNew"/>
    <dgm:cxn modelId="{9550081B-E913-6948-BDA2-3ED4DEC15319}" type="presParOf" srcId="{885BD541-7A4F-3B45-B4A8-9096EB5E9090}" destId="{75DAD476-B030-7D4C-B950-7F73297FD785}" srcOrd="11" destOrd="0" presId="urn:microsoft.com/office/officeart/2016/7/layout/RepeatingBendingProcessNew"/>
    <dgm:cxn modelId="{10A3E302-3CE0-8941-A377-454C10AA3095}" type="presParOf" srcId="{75DAD476-B030-7D4C-B950-7F73297FD785}" destId="{A027F9CE-B17D-7C45-A09B-8F038FC4B459}" srcOrd="0" destOrd="0" presId="urn:microsoft.com/office/officeart/2016/7/layout/RepeatingBendingProcessNew"/>
    <dgm:cxn modelId="{CC6817F9-B58A-1343-9218-CE3AF790C162}" type="presParOf" srcId="{885BD541-7A4F-3B45-B4A8-9096EB5E9090}" destId="{4394A3D1-4FA9-614B-9FCD-E7EAD78B750A}" srcOrd="12" destOrd="0" presId="urn:microsoft.com/office/officeart/2016/7/layout/RepeatingBendingProcessNew"/>
    <dgm:cxn modelId="{3EF66CD9-F044-7741-9BB1-C6E192796597}" type="presParOf" srcId="{885BD541-7A4F-3B45-B4A8-9096EB5E9090}" destId="{58EA5D28-6D65-E74C-8C31-711411FE4561}" srcOrd="13" destOrd="0" presId="urn:microsoft.com/office/officeart/2016/7/layout/RepeatingBendingProcessNew"/>
    <dgm:cxn modelId="{84559AC1-5D75-E24C-9342-385DC79ED93A}" type="presParOf" srcId="{58EA5D28-6D65-E74C-8C31-711411FE4561}" destId="{A5DC24B9-AB49-504C-B451-2142ACCA28A4}" srcOrd="0" destOrd="0" presId="urn:microsoft.com/office/officeart/2016/7/layout/RepeatingBendingProcessNew"/>
    <dgm:cxn modelId="{B29DB71C-DA24-3144-9CAA-78FFE91F1B9B}" type="presParOf" srcId="{885BD541-7A4F-3B45-B4A8-9096EB5E9090}" destId="{9EA3B65B-AF6D-2247-848A-7A777BAE5E6D}" srcOrd="14" destOrd="0" presId="urn:microsoft.com/office/officeart/2016/7/layout/RepeatingBendingProcessNew"/>
    <dgm:cxn modelId="{D944CD2A-141A-1845-9765-06A80244C703}" type="presParOf" srcId="{885BD541-7A4F-3B45-B4A8-9096EB5E9090}" destId="{70793E1C-E258-C347-812A-C73C3121B720}" srcOrd="15" destOrd="0" presId="urn:microsoft.com/office/officeart/2016/7/layout/RepeatingBendingProcessNew"/>
    <dgm:cxn modelId="{F109009E-3B7C-224B-A3ED-DFC43055D456}" type="presParOf" srcId="{70793E1C-E258-C347-812A-C73C3121B720}" destId="{E33083CF-23CF-9F42-B1FE-A4678B072616}" srcOrd="0" destOrd="0" presId="urn:microsoft.com/office/officeart/2016/7/layout/RepeatingBendingProcessNew"/>
    <dgm:cxn modelId="{66D5B219-85A4-D247-8E77-E9917B405DDA}" type="presParOf" srcId="{885BD541-7A4F-3B45-B4A8-9096EB5E9090}" destId="{C33C4E8F-E6ED-E946-8D54-2A729302F719}" srcOrd="16" destOrd="0" presId="urn:microsoft.com/office/officeart/2016/7/layout/RepeatingBendingProcessNew"/>
    <dgm:cxn modelId="{D919F808-5310-CC40-8E91-5E3C7140BE80}" type="presParOf" srcId="{885BD541-7A4F-3B45-B4A8-9096EB5E9090}" destId="{C8D79113-3DEA-0547-AA0F-3E4CE2FB7D51}" srcOrd="17" destOrd="0" presId="urn:microsoft.com/office/officeart/2016/7/layout/RepeatingBendingProcessNew"/>
    <dgm:cxn modelId="{76649F3A-A3F3-1D4D-8AEC-9CBA9074F5A5}" type="presParOf" srcId="{C8D79113-3DEA-0547-AA0F-3E4CE2FB7D51}" destId="{036E33D2-BE19-7C46-A98B-CD8EC674FF18}" srcOrd="0" destOrd="0" presId="urn:microsoft.com/office/officeart/2016/7/layout/RepeatingBendingProcessNew"/>
    <dgm:cxn modelId="{F0C40EE3-06B6-0441-A731-5E3E72C8742B}" type="presParOf" srcId="{885BD541-7A4F-3B45-B4A8-9096EB5E9090}" destId="{1667D48D-806B-0445-AFD9-73D6E4BE8219}" srcOrd="18" destOrd="0" presId="urn:microsoft.com/office/officeart/2016/7/layout/RepeatingBendingProcessNew"/>
    <dgm:cxn modelId="{B42160ED-DF22-D041-8103-4B817F7933D2}" type="presParOf" srcId="{885BD541-7A4F-3B45-B4A8-9096EB5E9090}" destId="{97D789DD-16C9-AC44-B461-D1790404DEE4}" srcOrd="19" destOrd="0" presId="urn:microsoft.com/office/officeart/2016/7/layout/RepeatingBendingProcessNew"/>
    <dgm:cxn modelId="{5AE9FC2C-F63D-2445-9D1B-CA60B2629E6E}" type="presParOf" srcId="{97D789DD-16C9-AC44-B461-D1790404DEE4}" destId="{8CC3D992-29FC-AD48-B121-ACBCFF178ECE}" srcOrd="0" destOrd="0" presId="urn:microsoft.com/office/officeart/2016/7/layout/RepeatingBendingProcessNew"/>
    <dgm:cxn modelId="{55E4FEA2-0578-E147-938E-9BE188E21B8A}" type="presParOf" srcId="{885BD541-7A4F-3B45-B4A8-9096EB5E9090}" destId="{55CCE343-E18E-CA42-9EA4-9D4EF2BE33F7}" srcOrd="20" destOrd="0" presId="urn:microsoft.com/office/officeart/2016/7/layout/RepeatingBendingProcessNew"/>
    <dgm:cxn modelId="{ADAC0247-4F65-EE46-8AA4-C0BA0F28AC3F}" type="presParOf" srcId="{885BD541-7A4F-3B45-B4A8-9096EB5E9090}" destId="{9037C034-AD48-F944-BC95-BD2EF909C63D}" srcOrd="21" destOrd="0" presId="urn:microsoft.com/office/officeart/2016/7/layout/RepeatingBendingProcessNew"/>
    <dgm:cxn modelId="{7B936F11-7ED0-BB42-A2B9-0B93800CDBA2}" type="presParOf" srcId="{9037C034-AD48-F944-BC95-BD2EF909C63D}" destId="{F0335895-AB25-4E49-A194-9C3C23B31080}" srcOrd="0" destOrd="0" presId="urn:microsoft.com/office/officeart/2016/7/layout/RepeatingBendingProcessNew"/>
    <dgm:cxn modelId="{2A7005D0-AD8C-C04B-B018-B46B279B5898}" type="presParOf" srcId="{885BD541-7A4F-3B45-B4A8-9096EB5E9090}" destId="{2038EC11-CEDF-0D45-9C37-FACF17466F18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14DF2-3B78-AE4C-BCC4-C1F49275F1A5}">
      <dsp:nvSpPr>
        <dsp:cNvPr id="0" name=""/>
        <dsp:cNvSpPr/>
      </dsp:nvSpPr>
      <dsp:spPr>
        <a:xfrm>
          <a:off x="2412187" y="457438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9276" y="501238"/>
        <a:ext cx="19198" cy="3839"/>
      </dsp:txXfrm>
    </dsp:sp>
    <dsp:sp modelId="{A5C054EC-29FD-2648-A3D0-3F213371587E}">
      <dsp:nvSpPr>
        <dsp:cNvPr id="0" name=""/>
        <dsp:cNvSpPr/>
      </dsp:nvSpPr>
      <dsp:spPr>
        <a:xfrm>
          <a:off x="281702" y="2320"/>
          <a:ext cx="2132285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1. Custom CNN (Baseline)</a:t>
          </a:r>
          <a:endParaRPr lang="en-US" sz="1200" kern="1200" dirty="0"/>
        </a:p>
      </dsp:txBody>
      <dsp:txXfrm>
        <a:off x="281702" y="2320"/>
        <a:ext cx="2132285" cy="1001676"/>
      </dsp:txXfrm>
    </dsp:sp>
    <dsp:sp modelId="{37AB6953-B98D-EA4B-A5B3-EC1A5ECC0E61}">
      <dsp:nvSpPr>
        <dsp:cNvPr id="0" name=""/>
        <dsp:cNvSpPr/>
      </dsp:nvSpPr>
      <dsp:spPr>
        <a:xfrm>
          <a:off x="4465624" y="457438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32713" y="501238"/>
        <a:ext cx="19198" cy="3839"/>
      </dsp:txXfrm>
    </dsp:sp>
    <dsp:sp modelId="{805CFF60-0359-0147-BDD2-DE6E193A211F}">
      <dsp:nvSpPr>
        <dsp:cNvPr id="0" name=""/>
        <dsp:cNvSpPr/>
      </dsp:nvSpPr>
      <dsp:spPr>
        <a:xfrm>
          <a:off x="2797963" y="2320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5-layer convolutional network.</a:t>
          </a:r>
        </a:p>
      </dsp:txBody>
      <dsp:txXfrm>
        <a:off x="2797963" y="2320"/>
        <a:ext cx="1669460" cy="1001676"/>
      </dsp:txXfrm>
    </dsp:sp>
    <dsp:sp modelId="{CA3D128F-082F-8C4B-A3A7-5BD89A757313}">
      <dsp:nvSpPr>
        <dsp:cNvPr id="0" name=""/>
        <dsp:cNvSpPr/>
      </dsp:nvSpPr>
      <dsp:spPr>
        <a:xfrm>
          <a:off x="6519061" y="457438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86150" y="501238"/>
        <a:ext cx="19198" cy="3839"/>
      </dsp:txXfrm>
    </dsp:sp>
    <dsp:sp modelId="{68DC0C95-86EF-8746-9643-6A04364DC177}">
      <dsp:nvSpPr>
        <dsp:cNvPr id="0" name=""/>
        <dsp:cNvSpPr/>
      </dsp:nvSpPr>
      <dsp:spPr>
        <a:xfrm>
          <a:off x="4851400" y="2320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 conv blocks + batch norm + max pooling.</a:t>
          </a:r>
        </a:p>
      </dsp:txBody>
      <dsp:txXfrm>
        <a:off x="4851400" y="2320"/>
        <a:ext cx="1669460" cy="1001676"/>
      </dsp:txXfrm>
    </dsp:sp>
    <dsp:sp modelId="{796A5889-FB1D-534B-B2B9-BF83BE953D8D}">
      <dsp:nvSpPr>
        <dsp:cNvPr id="0" name=""/>
        <dsp:cNvSpPr/>
      </dsp:nvSpPr>
      <dsp:spPr>
        <a:xfrm>
          <a:off x="1344147" y="1002196"/>
          <a:ext cx="6395420" cy="353376"/>
        </a:xfrm>
        <a:custGeom>
          <a:avLst/>
          <a:gdLst/>
          <a:ahLst/>
          <a:cxnLst/>
          <a:rect l="0" t="0" r="0" b="0"/>
          <a:pathLst>
            <a:path>
              <a:moveTo>
                <a:pt x="6395420" y="0"/>
              </a:moveTo>
              <a:lnTo>
                <a:pt x="6395420" y="193788"/>
              </a:lnTo>
              <a:lnTo>
                <a:pt x="0" y="193788"/>
              </a:lnTo>
              <a:lnTo>
                <a:pt x="0" y="353376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81684" y="1176964"/>
        <a:ext cx="320346" cy="3839"/>
      </dsp:txXfrm>
    </dsp:sp>
    <dsp:sp modelId="{0E0C1B5D-6049-A743-A044-8CBA31650CA5}">
      <dsp:nvSpPr>
        <dsp:cNvPr id="0" name=""/>
        <dsp:cNvSpPr/>
      </dsp:nvSpPr>
      <dsp:spPr>
        <a:xfrm>
          <a:off x="6904837" y="2320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Trained from scratch.</a:t>
          </a:r>
        </a:p>
      </dsp:txBody>
      <dsp:txXfrm>
        <a:off x="6904837" y="2320"/>
        <a:ext cx="1669460" cy="1001676"/>
      </dsp:txXfrm>
    </dsp:sp>
    <dsp:sp modelId="{D49F0E10-D704-8642-9D0C-2DE92DFE1B88}">
      <dsp:nvSpPr>
        <dsp:cNvPr id="0" name=""/>
        <dsp:cNvSpPr/>
      </dsp:nvSpPr>
      <dsp:spPr>
        <a:xfrm>
          <a:off x="2404792" y="1843091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71880" y="1886891"/>
        <a:ext cx="19198" cy="3839"/>
      </dsp:txXfrm>
    </dsp:sp>
    <dsp:sp modelId="{5DBCD1F0-3F69-5C48-A583-B7B5008C26A9}">
      <dsp:nvSpPr>
        <dsp:cNvPr id="0" name=""/>
        <dsp:cNvSpPr/>
      </dsp:nvSpPr>
      <dsp:spPr>
        <a:xfrm>
          <a:off x="281702" y="1387972"/>
          <a:ext cx="2124889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2. VGG16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(Transfer Learning)</a:t>
          </a:r>
          <a:endParaRPr lang="en-US" sz="1200" kern="1200" dirty="0"/>
        </a:p>
      </dsp:txBody>
      <dsp:txXfrm>
        <a:off x="281702" y="1387972"/>
        <a:ext cx="2124889" cy="1001676"/>
      </dsp:txXfrm>
    </dsp:sp>
    <dsp:sp modelId="{75DAD476-B030-7D4C-B950-7F73297FD785}">
      <dsp:nvSpPr>
        <dsp:cNvPr id="0" name=""/>
        <dsp:cNvSpPr/>
      </dsp:nvSpPr>
      <dsp:spPr>
        <a:xfrm>
          <a:off x="4458228" y="1843091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25317" y="1886891"/>
        <a:ext cx="19198" cy="3839"/>
      </dsp:txXfrm>
    </dsp:sp>
    <dsp:sp modelId="{3F65D177-B33B-0D4A-8C58-9B6A5C9DF127}">
      <dsp:nvSpPr>
        <dsp:cNvPr id="0" name=""/>
        <dsp:cNvSpPr/>
      </dsp:nvSpPr>
      <dsp:spPr>
        <a:xfrm>
          <a:off x="2790568" y="1387972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Pre-trained on ImageNet; frozen conv layers.</a:t>
          </a:r>
        </a:p>
      </dsp:txBody>
      <dsp:txXfrm>
        <a:off x="2790568" y="1387972"/>
        <a:ext cx="1669460" cy="1001676"/>
      </dsp:txXfrm>
    </dsp:sp>
    <dsp:sp modelId="{58EA5D28-6D65-E74C-8C31-711411FE4561}">
      <dsp:nvSpPr>
        <dsp:cNvPr id="0" name=""/>
        <dsp:cNvSpPr/>
      </dsp:nvSpPr>
      <dsp:spPr>
        <a:xfrm>
          <a:off x="6511665" y="1843091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78754" y="1886891"/>
        <a:ext cx="19198" cy="3839"/>
      </dsp:txXfrm>
    </dsp:sp>
    <dsp:sp modelId="{4394A3D1-4FA9-614B-9FCD-E7EAD78B750A}">
      <dsp:nvSpPr>
        <dsp:cNvPr id="0" name=""/>
        <dsp:cNvSpPr/>
      </dsp:nvSpPr>
      <dsp:spPr>
        <a:xfrm>
          <a:off x="4844004" y="1387972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 classifier: 4096 → 1024 → 2 classes.</a:t>
          </a:r>
        </a:p>
      </dsp:txBody>
      <dsp:txXfrm>
        <a:off x="4844004" y="1387972"/>
        <a:ext cx="1669460" cy="1001676"/>
      </dsp:txXfrm>
    </dsp:sp>
    <dsp:sp modelId="{70793E1C-E258-C347-812A-C73C3121B720}">
      <dsp:nvSpPr>
        <dsp:cNvPr id="0" name=""/>
        <dsp:cNvSpPr/>
      </dsp:nvSpPr>
      <dsp:spPr>
        <a:xfrm>
          <a:off x="1377544" y="2387849"/>
          <a:ext cx="6354627" cy="353376"/>
        </a:xfrm>
        <a:custGeom>
          <a:avLst/>
          <a:gdLst/>
          <a:ahLst/>
          <a:cxnLst/>
          <a:rect l="0" t="0" r="0" b="0"/>
          <a:pathLst>
            <a:path>
              <a:moveTo>
                <a:pt x="6354627" y="0"/>
              </a:moveTo>
              <a:lnTo>
                <a:pt x="6354627" y="193788"/>
              </a:lnTo>
              <a:lnTo>
                <a:pt x="0" y="193788"/>
              </a:lnTo>
              <a:lnTo>
                <a:pt x="0" y="353376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95703" y="2562617"/>
        <a:ext cx="318310" cy="3839"/>
      </dsp:txXfrm>
    </dsp:sp>
    <dsp:sp modelId="{9EA3B65B-AF6D-2247-848A-7A777BAE5E6D}">
      <dsp:nvSpPr>
        <dsp:cNvPr id="0" name=""/>
        <dsp:cNvSpPr/>
      </dsp:nvSpPr>
      <dsp:spPr>
        <a:xfrm>
          <a:off x="6897441" y="1387972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Learning rate: 1e-5 (careful fine-tuning).</a:t>
          </a:r>
        </a:p>
      </dsp:txBody>
      <dsp:txXfrm>
        <a:off x="6897441" y="1387972"/>
        <a:ext cx="1669460" cy="1001676"/>
      </dsp:txXfrm>
    </dsp:sp>
    <dsp:sp modelId="{C8D79113-3DEA-0547-AA0F-3E4CE2FB7D51}">
      <dsp:nvSpPr>
        <dsp:cNvPr id="0" name=""/>
        <dsp:cNvSpPr/>
      </dsp:nvSpPr>
      <dsp:spPr>
        <a:xfrm>
          <a:off x="2471587" y="3228743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38675" y="3272543"/>
        <a:ext cx="19198" cy="3839"/>
      </dsp:txXfrm>
    </dsp:sp>
    <dsp:sp modelId="{C33C4E8F-E6ED-E946-8D54-2A729302F719}">
      <dsp:nvSpPr>
        <dsp:cNvPr id="0" name=""/>
        <dsp:cNvSpPr/>
      </dsp:nvSpPr>
      <dsp:spPr>
        <a:xfrm>
          <a:off x="281702" y="2773625"/>
          <a:ext cx="2191684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3. ResNet50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(Transfer Learning)</a:t>
          </a:r>
          <a:endParaRPr lang="en-US" sz="1200" kern="1200" dirty="0"/>
        </a:p>
      </dsp:txBody>
      <dsp:txXfrm>
        <a:off x="281702" y="2773625"/>
        <a:ext cx="2191684" cy="1001676"/>
      </dsp:txXfrm>
    </dsp:sp>
    <dsp:sp modelId="{97D789DD-16C9-AC44-B461-D1790404DEE4}">
      <dsp:nvSpPr>
        <dsp:cNvPr id="0" name=""/>
        <dsp:cNvSpPr/>
      </dsp:nvSpPr>
      <dsp:spPr>
        <a:xfrm>
          <a:off x="4525024" y="3228743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92112" y="3272543"/>
        <a:ext cx="19198" cy="3839"/>
      </dsp:txXfrm>
    </dsp:sp>
    <dsp:sp modelId="{1667D48D-806B-0445-AFD9-73D6E4BE8219}">
      <dsp:nvSpPr>
        <dsp:cNvPr id="0" name=""/>
        <dsp:cNvSpPr/>
      </dsp:nvSpPr>
      <dsp:spPr>
        <a:xfrm>
          <a:off x="2857363" y="2773625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Pre-trained on ImageNet; last 20 layers trainable.</a:t>
          </a:r>
        </a:p>
      </dsp:txBody>
      <dsp:txXfrm>
        <a:off x="2857363" y="2773625"/>
        <a:ext cx="1669460" cy="1001676"/>
      </dsp:txXfrm>
    </dsp:sp>
    <dsp:sp modelId="{9037C034-AD48-F944-BC95-BD2EF909C63D}">
      <dsp:nvSpPr>
        <dsp:cNvPr id="0" name=""/>
        <dsp:cNvSpPr/>
      </dsp:nvSpPr>
      <dsp:spPr>
        <a:xfrm>
          <a:off x="6578460" y="3228743"/>
          <a:ext cx="35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3376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45549" y="3272543"/>
        <a:ext cx="19198" cy="3839"/>
      </dsp:txXfrm>
    </dsp:sp>
    <dsp:sp modelId="{55CCE343-E18E-CA42-9EA4-9D4EF2BE33F7}">
      <dsp:nvSpPr>
        <dsp:cNvPr id="0" name=""/>
        <dsp:cNvSpPr/>
      </dsp:nvSpPr>
      <dsp:spPr>
        <a:xfrm>
          <a:off x="4910800" y="2773625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Residual connections for deeper architecture.</a:t>
          </a:r>
        </a:p>
      </dsp:txBody>
      <dsp:txXfrm>
        <a:off x="4910800" y="2773625"/>
        <a:ext cx="1669460" cy="1001676"/>
      </dsp:txXfrm>
    </dsp:sp>
    <dsp:sp modelId="{2038EC11-CEDF-0D45-9C37-FACF17466F18}">
      <dsp:nvSpPr>
        <dsp:cNvPr id="0" name=""/>
        <dsp:cNvSpPr/>
      </dsp:nvSpPr>
      <dsp:spPr>
        <a:xfrm>
          <a:off x="6964236" y="2773625"/>
          <a:ext cx="1669460" cy="1001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805" tIns="85869" rIns="81805" bIns="8586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Scheduler: </a:t>
          </a:r>
          <a:r>
            <a:rPr lang="en-US" sz="1200" kern="1200" dirty="0"/>
            <a:t>Decays LR when validation loss plateaus (Patience=3).</a:t>
          </a:r>
        </a:p>
      </dsp:txBody>
      <dsp:txXfrm>
        <a:off x="6964236" y="2773625"/>
        <a:ext cx="1669460" cy="1001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EA518E-6C90-4FB8-9D88-C59B7498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65D9A-D7A7-5365-89C4-8236B9DD3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2872" y="1885681"/>
            <a:ext cx="9008255" cy="2307576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/>
              <a:t>Automated Pneumonia Detection from Chest X-Ray Images Using Machine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FC3C9-5F6F-4B0C-B9BC-4538C1E6F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0424"/>
            <a:ext cx="12192000" cy="2307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8DE01-8C76-28A2-55E1-8325CFEDC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4165" y="4709627"/>
            <a:ext cx="8956962" cy="11262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Akash Kumar Yadav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MS in Computer Science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Fordham University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A844245-4805-4DD5-AF47-842A0B27F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5019122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56AD-89B1-2D27-5A13-28ECEB4D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321C5-7615-E4A1-3812-BE7CB6A0D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Global Health Challenge</a:t>
            </a:r>
            <a:endParaRPr lang="en-US" dirty="0"/>
          </a:p>
          <a:p>
            <a:r>
              <a:rPr lang="en-US" dirty="0"/>
              <a:t>🏥 </a:t>
            </a:r>
            <a:r>
              <a:rPr lang="en-US" b="1" dirty="0"/>
              <a:t>Problem:</a:t>
            </a:r>
            <a:r>
              <a:rPr lang="en-US" dirty="0"/>
              <a:t> Pneumonia causes ~2.5 million deaths annually.</a:t>
            </a:r>
          </a:p>
          <a:p>
            <a:r>
              <a:rPr lang="en-US" dirty="0"/>
              <a:t>👶 </a:t>
            </a:r>
            <a:r>
              <a:rPr lang="en-US" b="1" dirty="0"/>
              <a:t>Impact:</a:t>
            </a:r>
            <a:r>
              <a:rPr lang="en-US" dirty="0"/>
              <a:t> Responsible for 15% of child mortality under age 5 (WHO).</a:t>
            </a:r>
          </a:p>
          <a:p>
            <a:r>
              <a:rPr lang="en-US" dirty="0"/>
              <a:t>⏱️ </a:t>
            </a:r>
            <a:r>
              <a:rPr lang="en-US" b="1" dirty="0"/>
              <a:t>Challenge:</a:t>
            </a:r>
            <a:r>
              <a:rPr lang="en-US" dirty="0"/>
              <a:t> Manual X-ray interpretation is time-consuming and error-prone.</a:t>
            </a:r>
          </a:p>
          <a:p>
            <a:r>
              <a:rPr lang="en-US" dirty="0"/>
              <a:t>🌍 </a:t>
            </a:r>
            <a:r>
              <a:rPr lang="en-US" b="1" dirty="0"/>
              <a:t>Gap:</a:t>
            </a:r>
            <a:r>
              <a:rPr lang="en-US" dirty="0"/>
              <a:t> Expert radiologists are often unavailable in resource-limited settings.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Project Goal: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Develop an automated screening system achieving </a:t>
            </a:r>
            <a:r>
              <a:rPr lang="en-US" b="1" dirty="0"/>
              <a:t>&gt;95% sensitivity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56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EB26-F5CC-6977-7F11-8DBAA97A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 &amp;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B2E62-4D3B-9D30-F2AA-AD551E8CC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Prior Work</a:t>
            </a:r>
            <a:endParaRPr lang="en-US" dirty="0"/>
          </a:p>
          <a:p>
            <a:r>
              <a:rPr lang="en-US" b="1" dirty="0" err="1"/>
              <a:t>CheXNet</a:t>
            </a:r>
            <a:r>
              <a:rPr lang="en-US" b="1" dirty="0"/>
              <a:t> (</a:t>
            </a:r>
            <a:r>
              <a:rPr lang="en-US" b="1" dirty="0" err="1"/>
              <a:t>DenseNet</a:t>
            </a:r>
            <a:r>
              <a:rPr lang="en-US" b="1" dirty="0"/>
              <a:t>):</a:t>
            </a:r>
            <a:r>
              <a:rPr lang="en-US" dirty="0"/>
              <a:t> Achieved radiologist-level accuracy.</a:t>
            </a:r>
          </a:p>
          <a:p>
            <a:r>
              <a:rPr lang="en-US" b="1" dirty="0"/>
              <a:t>Transfer Learning:</a:t>
            </a:r>
            <a:r>
              <a:rPr lang="en-US" dirty="0"/>
              <a:t> Proven effective for medical imaging tasks.</a:t>
            </a:r>
          </a:p>
          <a:p>
            <a:r>
              <a:rPr lang="en-US" b="1" dirty="0"/>
              <a:t>Limitation</a:t>
            </a:r>
            <a:r>
              <a:rPr lang="en-US" i="1" dirty="0"/>
              <a:t>:</a:t>
            </a:r>
            <a:r>
              <a:rPr lang="en-US" dirty="0"/>
              <a:t> Limited work exists on interpretability &amp; robustness validation.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Our Contributions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✅ </a:t>
            </a:r>
            <a:r>
              <a:rPr lang="en-US" b="1" dirty="0"/>
              <a:t>Comparison:</a:t>
            </a:r>
            <a:r>
              <a:rPr lang="en-US" dirty="0"/>
              <a:t> Evaluated 3 architectures (Custom CNN, VGG16, ResNet50).</a:t>
            </a:r>
          </a:p>
          <a:p>
            <a:pPr marL="400050" lvl="1" indent="0">
              <a:buNone/>
            </a:pPr>
            <a:r>
              <a:rPr lang="en-US" dirty="0"/>
              <a:t>✅ </a:t>
            </a:r>
            <a:r>
              <a:rPr lang="en-US" b="1" dirty="0"/>
              <a:t>Performance:</a:t>
            </a:r>
            <a:r>
              <a:rPr lang="en-US" dirty="0"/>
              <a:t> Achieved </a:t>
            </a:r>
            <a:r>
              <a:rPr lang="en-US" b="1" dirty="0"/>
              <a:t>99.74% recall</a:t>
            </a:r>
            <a:r>
              <a:rPr lang="en-US" dirty="0"/>
              <a:t> (missing only 1 case per 390).</a:t>
            </a:r>
          </a:p>
          <a:p>
            <a:pPr marL="400050" lvl="1" indent="0">
              <a:buNone/>
            </a:pPr>
            <a:r>
              <a:rPr lang="en-US" dirty="0"/>
              <a:t>✅ </a:t>
            </a:r>
            <a:r>
              <a:rPr lang="en-US" b="1" dirty="0"/>
              <a:t>Interpretability:</a:t>
            </a:r>
            <a:r>
              <a:rPr lang="en-US" dirty="0"/>
              <a:t> Validated decision-making using Grad-CAM.</a:t>
            </a:r>
          </a:p>
          <a:p>
            <a:pPr marL="400050" lvl="1" indent="0">
              <a:buNone/>
            </a:pPr>
            <a:r>
              <a:rPr lang="en-US" dirty="0"/>
              <a:t>✅ </a:t>
            </a:r>
            <a:r>
              <a:rPr lang="en-US" b="1" dirty="0"/>
              <a:t>Robustness:</a:t>
            </a:r>
            <a:r>
              <a:rPr lang="en-US" dirty="0"/>
              <a:t> Independent validation confirming stability.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68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55A7-E1CC-E35B-5473-62711E10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633466" cy="1280890"/>
          </a:xfrm>
        </p:spPr>
        <p:txBody>
          <a:bodyPr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55C5A-1DAE-ACEC-0528-E5FCA975B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900" y="2022098"/>
            <a:ext cx="4987517" cy="387075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Chest X-Ray Dataset Breakdown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Total Images:</a:t>
            </a:r>
            <a:r>
              <a:rPr lang="en-US" sz="1500" dirty="0"/>
              <a:t> 5,840 (Pediatric patients, 1-5 years)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├─ Training: 5,216 (89%)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│  ├─ Normal: 1,341 (25.7%)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│  └─ Pneumonia: 3,875 (74.3%)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└─ Testing: 624 (11%)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├─ Normal: 234 (38%)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   └─ Pneumonia: 390 (62%)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/>
              <a:t>⚠️ Class Imbalance:</a:t>
            </a:r>
            <a:r>
              <a:rPr lang="en-US" sz="1500" dirty="0"/>
              <a:t> 3:1 ratio (Pneumonia : Normal)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4F840F-60FC-DD8B-2CE6-677E2ED01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3855"/>
          <a:stretch>
            <a:fillRect/>
          </a:stretch>
        </p:blipFill>
        <p:spPr>
          <a:xfrm>
            <a:off x="8263312" y="645106"/>
            <a:ext cx="2579007" cy="2541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898E40-0DD1-BE9C-0D57-49923EAC43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521"/>
          <a:stretch>
            <a:fillRect/>
          </a:stretch>
        </p:blipFill>
        <p:spPr>
          <a:xfrm>
            <a:off x="7576730" y="3351275"/>
            <a:ext cx="3952169" cy="254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8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B401-CBE7-F18C-269D-B13576D1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633466" cy="1280890"/>
          </a:xfrm>
        </p:spPr>
        <p:txBody>
          <a:bodyPr>
            <a:normAutofit/>
          </a:bodyPr>
          <a:lstStyle/>
          <a:p>
            <a:r>
              <a:rPr lang="en-US" sz="3300" dirty="0"/>
              <a:t>Methodology &amp; 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374C-6AB7-B779-1F6B-EBDB22B66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040467"/>
            <a:ext cx="4637179" cy="19570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Training Strategy</a:t>
            </a:r>
            <a:endParaRPr lang="en-US" dirty="0"/>
          </a:p>
          <a:p>
            <a:r>
              <a:rPr lang="en-US" b="1" dirty="0"/>
              <a:t>Splits:</a:t>
            </a:r>
            <a:r>
              <a:rPr lang="en-US" dirty="0"/>
              <a:t> 85% Train / 15% Validation (main); 80/20 (independent).</a:t>
            </a:r>
          </a:p>
          <a:p>
            <a:r>
              <a:rPr lang="en-US" b="1" dirty="0"/>
              <a:t>Loss Function:</a:t>
            </a:r>
            <a:r>
              <a:rPr lang="en-US" dirty="0"/>
              <a:t> Weighted Cross-Entropy (Weights: Normal ~1.94, Pneumonia ~0.67).</a:t>
            </a:r>
          </a:p>
          <a:p>
            <a:r>
              <a:rPr lang="en-US" b="1" dirty="0"/>
              <a:t>Optimizer:</a:t>
            </a:r>
            <a:r>
              <a:rPr lang="en-US" dirty="0"/>
              <a:t> Adam with ReduceLROnPlateau scheduler.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4429C4-C345-6C5B-3C9C-A24EF6BD5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94960"/>
              </p:ext>
            </p:extLst>
          </p:nvPr>
        </p:nvGraphicFramePr>
        <p:xfrm>
          <a:off x="7471009" y="2571696"/>
          <a:ext cx="4263555" cy="3025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0334">
                  <a:extLst>
                    <a:ext uri="{9D8B030D-6E8A-4147-A177-3AD203B41FA5}">
                      <a16:colId xmlns:a16="http://schemas.microsoft.com/office/drawing/2014/main" val="3840553466"/>
                    </a:ext>
                  </a:extLst>
                </a:gridCol>
                <a:gridCol w="1111999">
                  <a:extLst>
                    <a:ext uri="{9D8B030D-6E8A-4147-A177-3AD203B41FA5}">
                      <a16:colId xmlns:a16="http://schemas.microsoft.com/office/drawing/2014/main" val="3273571694"/>
                    </a:ext>
                  </a:extLst>
                </a:gridCol>
                <a:gridCol w="1511222">
                  <a:extLst>
                    <a:ext uri="{9D8B030D-6E8A-4147-A177-3AD203B41FA5}">
                      <a16:colId xmlns:a16="http://schemas.microsoft.com/office/drawing/2014/main" val="4022643071"/>
                    </a:ext>
                  </a:extLst>
                </a:gridCol>
              </a:tblGrid>
              <a:tr h="340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Technique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Parameters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Purpose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extLst>
                  <a:ext uri="{0D108BD9-81ED-4DB2-BD59-A6C34878D82A}">
                    <a16:rowId xmlns:a16="http://schemas.microsoft.com/office/drawing/2014/main" val="1768169043"/>
                  </a:ext>
                </a:extLst>
              </a:tr>
              <a:tr h="5459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Rotation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±15°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Fix orientation issues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extLst>
                  <a:ext uri="{0D108BD9-81ED-4DB2-BD59-A6C34878D82A}">
                    <a16:rowId xmlns:a16="http://schemas.microsoft.com/office/drawing/2014/main" val="113435155"/>
                  </a:ext>
                </a:extLst>
              </a:tr>
              <a:tr h="3408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Horizontal Flip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p=0.5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Mirror views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extLst>
                  <a:ext uri="{0D108BD9-81ED-4DB2-BD59-A6C34878D82A}">
                    <a16:rowId xmlns:a16="http://schemas.microsoft.com/office/drawing/2014/main" val="1832108130"/>
                  </a:ext>
                </a:extLst>
              </a:tr>
              <a:tr h="5459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Color Jitter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±0.1 bright/contrast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Lighting variation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extLst>
                  <a:ext uri="{0D108BD9-81ED-4DB2-BD59-A6C34878D82A}">
                    <a16:rowId xmlns:a16="http://schemas.microsoft.com/office/drawing/2014/main" val="1748262507"/>
                  </a:ext>
                </a:extLst>
              </a:tr>
              <a:tr h="5459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Normalization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ImageNet mean/std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Standardization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extLst>
                  <a:ext uri="{0D108BD9-81ED-4DB2-BD59-A6C34878D82A}">
                    <a16:rowId xmlns:a16="http://schemas.microsoft.com/office/drawing/2014/main" val="201257755"/>
                  </a:ext>
                </a:extLst>
              </a:tr>
              <a:tr h="5459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/>
                        <a:t>Random Scaling</a:t>
                      </a:r>
                      <a:endParaRPr lang="en-US" sz="13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 dirty="0"/>
                        <a:t>0.9x - 1.1x </a:t>
                      </a:r>
                      <a:endParaRPr lang="en-US" sz="13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/>
                        <a:t>Size invariance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904" marR="83904" marT="55936" marB="55936" anchor="ctr"/>
                </a:tc>
                <a:extLst>
                  <a:ext uri="{0D108BD9-81ED-4DB2-BD59-A6C34878D82A}">
                    <a16:rowId xmlns:a16="http://schemas.microsoft.com/office/drawing/2014/main" val="4447451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F95EC6-7390-2F43-7AC5-50F0B343DC5F}"/>
              </a:ext>
            </a:extLst>
          </p:cNvPr>
          <p:cNvSpPr txBox="1"/>
          <p:nvPr/>
        </p:nvSpPr>
        <p:spPr>
          <a:xfrm>
            <a:off x="7612315" y="2040467"/>
            <a:ext cx="3704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Augmentation Techniques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A569F-8ED0-98CD-6B86-9C03C26C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333"/>
          <a:stretch>
            <a:fillRect/>
          </a:stretch>
        </p:blipFill>
        <p:spPr>
          <a:xfrm>
            <a:off x="2764972" y="4245428"/>
            <a:ext cx="4114800" cy="211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3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15EF-2E7E-5747-F58A-1AFD5BB3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09E9D0-0469-FE1E-4021-7D0F856E3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659282"/>
              </p:ext>
            </p:extLst>
          </p:nvPr>
        </p:nvGraphicFramePr>
        <p:xfrm>
          <a:off x="2589212" y="1796143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2582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BA0DF-7943-129E-48DD-4E2AAB63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936223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/>
              <a:t>Results - Confusion Matrix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0506D-2229-2EAE-97E2-26EB0A5D0DA4}"/>
              </a:ext>
            </a:extLst>
          </p:cNvPr>
          <p:cNvSpPr txBox="1"/>
          <p:nvPr/>
        </p:nvSpPr>
        <p:spPr>
          <a:xfrm>
            <a:off x="649225" y="2133600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Finding: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>
              <a:spcBef>
                <a:spcPts val="10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ResNet50 missed only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pneumonia case out of 390!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E7BA5-BBCE-01D5-E69B-752FCF52D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137023" y="640080"/>
            <a:ext cx="5918616" cy="5252773"/>
          </a:xfrm>
          <a:prstGeom prst="rect">
            <a:avLst/>
          </a:prstGeom>
        </p:spPr>
      </p:pic>
      <p:sp>
        <p:nvSpPr>
          <p:cNvPr id="16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7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26905-03BB-0022-2F63-9F57F7C7C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97031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Results - Performance 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4C5DC6-9615-7C0B-78F5-1C5914150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3835690" cy="3759253"/>
          </a:xfrm>
        </p:spPr>
        <p:txBody>
          <a:bodyPr>
            <a:normAutofit/>
          </a:bodyPr>
          <a:lstStyle/>
          <a:p>
            <a:r>
              <a:rPr lang="en-US" b="1" dirty="0"/>
              <a:t>Key Finding</a:t>
            </a:r>
          </a:p>
          <a:p>
            <a:pPr marL="0" indent="0">
              <a:buNone/>
            </a:pPr>
            <a:endParaRPr lang="en-US" b="1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✅ All models exceed 95% clinical threshold.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ResNet50:</a:t>
            </a:r>
            <a:r>
              <a:rPr lang="en-US" altLang="en-US" dirty="0">
                <a:latin typeface="Arial" panose="020B0604020202020204" pitchFamily="34" charset="0"/>
              </a:rPr>
              <a:t> Highest recall (99.74%).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VGG16:</a:t>
            </a:r>
            <a:r>
              <a:rPr lang="en-US" altLang="en-US" dirty="0">
                <a:latin typeface="Arial" panose="020B0604020202020204" pitchFamily="34" charset="0"/>
              </a:rPr>
              <a:t> Best balanced F1-score (90.57%).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4FA0597-CEB4-10E4-59E3-EE47BC14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197778"/>
            <a:ext cx="6953577" cy="4137377"/>
          </a:xfrm>
          <a:prstGeom prst="rect">
            <a:avLst/>
          </a:prstGeom>
        </p:spPr>
      </p:pic>
      <p:sp>
        <p:nvSpPr>
          <p:cNvPr id="16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76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21A3-0D2A-08DB-6F00-17C6573C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70" y="624110"/>
            <a:ext cx="4038876" cy="1280890"/>
          </a:xfrm>
        </p:spPr>
        <p:txBody>
          <a:bodyPr>
            <a:normAutofit/>
          </a:bodyPr>
          <a:lstStyle/>
          <a:p>
            <a:r>
              <a:rPr lang="en-US" sz="3200"/>
              <a:t>ROC Curves &amp; AUC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C11B6-87E8-C32C-C582-438B6B05F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412044" cy="3026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ROC-AUC Scores (Higher is Better)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Custom CNN:</a:t>
            </a:r>
            <a:r>
              <a:rPr lang="en-US" sz="1600" dirty="0">
                <a:solidFill>
                  <a:schemeClr val="tx1"/>
                </a:solidFill>
              </a:rPr>
              <a:t> 92.4%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VGG16:</a:t>
            </a:r>
            <a:r>
              <a:rPr lang="en-US" sz="1600" dirty="0">
                <a:solidFill>
                  <a:schemeClr val="tx1"/>
                </a:solidFill>
              </a:rPr>
              <a:t> 96.60%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ResNet50: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97.45%</a:t>
            </a:r>
            <a:r>
              <a:rPr lang="en-US" sz="1600" dirty="0">
                <a:solidFill>
                  <a:schemeClr val="tx1"/>
                </a:solidFill>
              </a:rPr>
              <a:t> ⭐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📊 Key Insight:</a:t>
            </a:r>
            <a:r>
              <a:rPr lang="en-US" sz="1600" dirty="0">
                <a:solidFill>
                  <a:schemeClr val="tx1"/>
                </a:solidFill>
              </a:rPr>
              <a:t> ResNet50 shows excellent discrimination across all decision thresholds (AUC 97.45%).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E778E12E-6AC9-3C9F-9D35-47F1E08DD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963" y="1004707"/>
            <a:ext cx="3004874" cy="2344764"/>
          </a:xfrm>
          <a:prstGeom prst="rect">
            <a:avLst/>
          </a:prstGeom>
        </p:spPr>
      </p:pic>
      <p:pic>
        <p:nvPicPr>
          <p:cNvPr id="9" name="Picture 8" descr="A graph of a curve&#10;&#10;AI-generated content may be incorrect.">
            <a:extLst>
              <a:ext uri="{FF2B5EF4-FFF2-40B4-BE49-F238E27FC236}">
                <a16:creationId xmlns:a16="http://schemas.microsoft.com/office/drawing/2014/main" id="{8AFFE413-F4D6-26CE-9304-9FCCE0194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990" y="3428999"/>
            <a:ext cx="4355628" cy="3187193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A053319E-E9F6-3195-795A-EAFD51A66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4257" y="1004707"/>
            <a:ext cx="3082094" cy="234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5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EFC95-1AFE-0C92-6E51-7E106DD8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en-US" dirty="0"/>
              <a:t>Interpretability – </a:t>
            </a:r>
            <a:br>
              <a:rPr lang="en-US" dirty="0"/>
            </a:br>
            <a:r>
              <a:rPr lang="en-US" dirty="0"/>
              <a:t>Grad-CAM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E6AABF13-C0F9-A7E0-A776-1441E9B62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2133600"/>
            <a:ext cx="6328519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Grad-CAM Findings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✅ Models focus on </a:t>
            </a:r>
            <a:r>
              <a:rPr lang="en-US" b="1" dirty="0"/>
              <a:t>lung regions</a:t>
            </a:r>
            <a:r>
              <a:rPr lang="en-US" dirty="0"/>
              <a:t> (clinically relevant).</a:t>
            </a:r>
          </a:p>
          <a:p>
            <a:pPr marL="0" indent="0">
              <a:buNone/>
            </a:pPr>
            <a:r>
              <a:rPr lang="en-US" dirty="0"/>
              <a:t>  ✅ Strong activation on </a:t>
            </a:r>
            <a:r>
              <a:rPr lang="en-US" b="1" dirty="0"/>
              <a:t>infiltrates</a:t>
            </a:r>
            <a:r>
              <a:rPr lang="en-US" dirty="0"/>
              <a:t> in pneumonia cases.</a:t>
            </a:r>
          </a:p>
          <a:p>
            <a:pPr marL="0" indent="0">
              <a:buNone/>
            </a:pPr>
            <a:r>
              <a:rPr lang="en-US" dirty="0"/>
              <a:t>  ✅ Minimal activation in normal cases.</a:t>
            </a:r>
          </a:p>
          <a:p>
            <a:pPr marL="0" indent="0">
              <a:buNone/>
            </a:pPr>
            <a:r>
              <a:rPr lang="en-US" dirty="0"/>
              <a:t>  ✅ </a:t>
            </a:r>
            <a:r>
              <a:rPr lang="en-US" b="1" dirty="0"/>
              <a:t>No learning</a:t>
            </a:r>
            <a:r>
              <a:rPr lang="en-US" dirty="0"/>
              <a:t> of image artifacts or borders.’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Result:</a:t>
            </a:r>
            <a:r>
              <a:rPr lang="en-US" dirty="0"/>
              <a:t> High clinical trust via explainable decisions.</a:t>
            </a:r>
          </a:p>
          <a:p>
            <a:endParaRPr lang="en-US" dirty="0"/>
          </a:p>
        </p:txBody>
      </p:sp>
      <p:pic>
        <p:nvPicPr>
          <p:cNvPr id="5" name="Content Placeholder 4" descr="A collage of x-ray images of a chest&#10;&#10;AI-generated content may be incorrect.">
            <a:extLst>
              <a:ext uri="{FF2B5EF4-FFF2-40B4-BE49-F238E27FC236}">
                <a16:creationId xmlns:a16="http://schemas.microsoft.com/office/drawing/2014/main" id="{2FE32AB5-A782-4CFC-B4FC-9C0FC0EC5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3" y="645106"/>
            <a:ext cx="4488832" cy="5247747"/>
          </a:xfrm>
          <a:prstGeom prst="rect">
            <a:avLst/>
          </a:prstGeom>
        </p:spPr>
      </p:pic>
      <p:sp>
        <p:nvSpPr>
          <p:cNvPr id="21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44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8810-D524-C9D4-136A-8F2C85AF7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000"/>
              <a:t>Clinical Significance &amp; Deployment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2CB3-5CBC-FAFC-6ACB-CAF4ABF83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</a:rPr>
              <a:t>Clinical Impact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🎯 </a:t>
            </a:r>
            <a:r>
              <a:rPr lang="en-US" b="1">
                <a:solidFill>
                  <a:srgbClr val="000000"/>
                </a:solidFill>
              </a:rPr>
              <a:t>0.26% miss rate</a:t>
            </a:r>
            <a:r>
              <a:rPr lang="en-US">
                <a:solidFill>
                  <a:srgbClr val="000000"/>
                </a:solidFill>
              </a:rPr>
              <a:t> (Only 1 case missed per 390  patients).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🏥 Exceeds clinical sensitivity requirements.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🔄 Higher False Positive rate (40%) is acceptable for screening safety.</a:t>
            </a:r>
          </a:p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8E7B7-CF40-1F00-88DF-7B2982D8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16" y="1783412"/>
            <a:ext cx="5451627" cy="297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8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72BF-C55C-9802-6430-8785C3FC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2A289-7881-6E65-9C09-E9CB45B31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Achievements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✅ </a:t>
            </a:r>
            <a:r>
              <a:rPr lang="en-US" b="1" dirty="0"/>
              <a:t>Best-in-class Performance:</a:t>
            </a:r>
            <a:r>
              <a:rPr lang="en-US" dirty="0"/>
              <a:t> 99.74% recall with ResNet50.</a:t>
            </a:r>
          </a:p>
          <a:p>
            <a:pPr marL="0" indent="0">
              <a:buNone/>
            </a:pPr>
            <a:r>
              <a:rPr lang="en-US" dirty="0"/>
              <a:t>  ✅ </a:t>
            </a:r>
            <a:r>
              <a:rPr lang="en-US" b="1" dirty="0"/>
              <a:t>Validated Robustness:</a:t>
            </a:r>
            <a:r>
              <a:rPr lang="en-US" dirty="0"/>
              <a:t> 98.70% (±0.28%) via K-fold cross-validation.</a:t>
            </a:r>
          </a:p>
          <a:p>
            <a:pPr marL="0" indent="0">
              <a:buNone/>
            </a:pPr>
            <a:r>
              <a:rPr lang="en-US" dirty="0"/>
              <a:t>  ✅ </a:t>
            </a:r>
            <a:r>
              <a:rPr lang="en-US" b="1" dirty="0"/>
              <a:t>Clinical Interpretability:</a:t>
            </a:r>
            <a:r>
              <a:rPr lang="en-US" dirty="0"/>
              <a:t> Grad-CAM validates clinically relevant features.</a:t>
            </a:r>
          </a:p>
          <a:p>
            <a:pPr marL="0" indent="0">
              <a:buNone/>
            </a:pPr>
            <a:r>
              <a:rPr lang="en-US" b="1" dirty="0"/>
              <a:t>Future Directions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🌍 External validation on diverse datasets.</a:t>
            </a:r>
          </a:p>
          <a:p>
            <a:pPr marL="0" indent="0">
              <a:buNone/>
            </a:pPr>
            <a:r>
              <a:rPr lang="en-US" dirty="0"/>
              <a:t>  🏥 Multi-class classification (Bacterial vs. Viral).</a:t>
            </a:r>
          </a:p>
          <a:p>
            <a:pPr marL="0" indent="0">
              <a:buNone/>
            </a:pPr>
            <a:r>
              <a:rPr lang="en-US" dirty="0"/>
              <a:t>  📱 Edge deployment for resource-limited settings.</a:t>
            </a:r>
          </a:p>
          <a:p>
            <a:pPr marL="0" indent="0">
              <a:buNone/>
            </a:pPr>
            <a:r>
              <a:rPr lang="en-US" b="1" dirty="0"/>
              <a:t>Impact:</a:t>
            </a:r>
            <a:r>
              <a:rPr lang="en-US" dirty="0"/>
              <a:t> Transfer learning with careful fine-tuning can achieve radiologist-level performance, offering scalable diagnostic assistance worldwide.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91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676AE-FB16-B537-5E1C-C1D4245F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EFFFF"/>
                </a:solidFill>
              </a:rPr>
              <a:t>Thank You</a:t>
            </a: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8" name="Graphic 147" descr="Smiling Face with No Fill">
            <a:extLst>
              <a:ext uri="{FF2B5EF4-FFF2-40B4-BE49-F238E27FC236}">
                <a16:creationId xmlns:a16="http://schemas.microsoft.com/office/drawing/2014/main" id="{E4C62BEC-E505-FD9C-BA89-53B592410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011" y="967417"/>
            <a:ext cx="4930468" cy="49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2217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95</TotalTime>
  <Words>700</Words>
  <Application>Microsoft Macintosh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Google Sans Text</vt:lpstr>
      <vt:lpstr>Wingdings 3</vt:lpstr>
      <vt:lpstr>Wisp</vt:lpstr>
      <vt:lpstr>Automated Pneumonia Detection from Chest X-Ray Images Using Machine Learning</vt:lpstr>
      <vt:lpstr>Problem Statement</vt:lpstr>
      <vt:lpstr>Related Work &amp; Contributions</vt:lpstr>
      <vt:lpstr>Dataset Overview</vt:lpstr>
      <vt:lpstr>Methodology &amp; Data Augmentation</vt:lpstr>
      <vt:lpstr>Model Architectures </vt:lpstr>
      <vt:lpstr>Results - Confusion Matrix</vt:lpstr>
      <vt:lpstr>Results - Performance Metrics</vt:lpstr>
      <vt:lpstr>ROC Curves &amp; AUC Analysis</vt:lpstr>
      <vt:lpstr>Interpretability –  Grad-CAM</vt:lpstr>
      <vt:lpstr>Clinical Significance &amp; Deployment 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Yadav, Akash Kumar K</dc:creator>
  <cp:lastModifiedBy>Yadav, Akash Kumar K</cp:lastModifiedBy>
  <cp:revision>6</cp:revision>
  <dcterms:created xsi:type="dcterms:W3CDTF">2025-12-14T03:02:32Z</dcterms:created>
  <dcterms:modified xsi:type="dcterms:W3CDTF">2025-12-14T19:44:00Z</dcterms:modified>
</cp:coreProperties>
</file>